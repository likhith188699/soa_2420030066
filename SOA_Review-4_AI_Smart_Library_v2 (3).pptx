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7ae37638-76f2-cad6-ba1f-8cc86c4ead27}">
          <p14:sldIdLst>
            <p14:sldId id="256"/>
          </p14:sldIdLst>
        </p14:section>
        <p14:section name="Outline 1" id="{e9eac0b2-17c6-c6cc-f89f-84a9c100e517}">
          <p14:sldIdLst>
            <p14:sldId id="257"/>
          </p14:sldIdLst>
        </p14:section>
        <p14:section name="Intro 2" id="{7dff936f-b856-5c18-c86f-e781518c6f58}">
          <p14:sldIdLst>
            <p14:sldId id="258"/>
          </p14:sldIdLst>
        </p14:section>
        <p14:section name="Intro 3" id="{23f8a406-3c7c-496d-6645-eb3a12a320f1}">
          <p14:sldIdLst>
            <p14:sldId id="259"/>
          </p14:sldIdLst>
        </p14:section>
        <p14:section name="Literature 4" id="{11c2b507-cf42-29e5-ce3d-ab89ce460219}">
          <p14:sldIdLst>
            <p14:sldId id="260"/>
          </p14:sldIdLst>
        </p14:section>
        <p14:section name="Method 5" id="{8c131263-2341-11e9-384d-0d1dd4fbf062}">
          <p14:sldIdLst>
            <p14:sldId id="261"/>
          </p14:sldIdLst>
        </p14:section>
        <p14:section name="Arch 6" id="{772be4d3-bc77-f9c0-f0f5-9469b8043a0f}">
          <p14:sldIdLst>
            <p14:sldId id="262"/>
          </p14:sldIdLst>
        </p14:section>
        <p14:section name="Method 7" id="{73dd60a3-f375-6649-8145-66cb13583c78}">
          <p14:sldIdLst>
            <p14:sldId id="263"/>
          </p14:sldIdLst>
        </p14:section>
        <p14:section name="Tech 8" id="{081df76e-2c7c-da06-52c0-7f29ae390907}">
          <p14:sldIdLst>
            <p14:sldId id="264"/>
          </p14:sldIdLst>
        </p14:section>
        <p14:section name="Impl 9" id="{a8c6b9a3-61df-c6c0-c91a-2c9b4213361e}">
          <p14:sldIdLst>
            <p14:sldId id="265"/>
          </p14:sldIdLst>
        </p14:section>
        <p14:section name="Impl 10" id="{893c740b-36fd-bd8e-b50b-a51ca0a1a72f}">
          <p14:sldIdLst>
            <p14:sldId id="266"/>
          </p14:sldIdLst>
        </p14:section>
        <p14:section name="Results 11" id="{fcb40055-d76d-fc11-05df-352822c88120}">
          <p14:sldIdLst>
            <p14:sldId id="267"/>
          </p14:sldIdLst>
        </p14:section>
        <p14:section name="Eval 12" id="{95b7999a-447e-a6a4-9ab8-b6cd23d4c0cb}">
          <p14:sldIdLst>
            <p14:sldId id="268"/>
          </p14:sldIdLst>
        </p14:section>
        <p14:section name="Innov 13" id="{a18ace42-7cdf-520a-da19-eaec7cd9a2f4}">
          <p14:sldIdLst>
            <p14:sldId id="269"/>
          </p14:sldIdLst>
        </p14:section>
        <p14:section name="Adapt 14" id="{a5276526-705b-eca6-536e-ff8d827e4706}">
          <p14:sldIdLst>
            <p14:sldId id="270"/>
          </p14:sldIdLst>
        </p14:section>
        <p14:section name="Util 15" id="{8e59730f-ea5b-b31f-52f7-733f4132a83b}">
          <p14:sldIdLst>
            <p14:sldId id="271"/>
          </p14:sldIdLst>
        </p14:section>
        <p14:section name="Diss 16" id="{9f72524f-ad52-09c4-6eb7-e5476fc52092}">
          <p14:sldIdLst>
            <p14:sldId id="272"/>
          </p14:sldIdLst>
        </p14:section>
        <p14:section name="Concl 17" id="{385fb366-6868-70c7-94af-1ec1c209d9d7}">
          <p14:sldIdLst>
            <p14:sldId id="273"/>
          </p14:sldIdLst>
        </p14:section>
        <p14:section name="Ref 18" id="{0505faaf-576c-8067-b089-8a8bbf3a2dab}">
          <p14:sldIdLst>
            <p14:sldId id="274"/>
          </p14:sldIdLst>
        </p14:section>
        <p14:section name="End" id="{1638233a-c9de-5ddc-ad0a-de5fc1df2f81}">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 talks only to the Spring Boot gateway. The gateway handles normal library work itself and forwards AI requests to the Python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five phases, then walk through one chatbot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each of these in the live demo if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058400" y="228600"/>
            <a:ext cx="1737360" cy="704088"/>
          </a:xfrm>
          <a:prstGeom prst="rect">
            <a:avLst/>
          </a:prstGeom>
        </p:spPr>
      </p:pic>
      <p:sp>
        <p:nvSpPr>
          <p:cNvPr id="3" name="Text 0"/>
          <p:cNvSpPr/>
          <p:nvPr/>
        </p:nvSpPr>
        <p:spPr>
          <a:xfrm>
            <a:off x="548640" y="6446520"/>
            <a:ext cx="2743200" cy="274320"/>
          </a:xfrm>
          <a:prstGeom prst="rect">
            <a:avLst/>
          </a:prstGeom>
          <a:noFill/>
          <a:ln/>
        </p:spPr>
        <p:txBody>
          <a:bodyPr wrap="square" lIns="0" tIns="0" rIns="0" bIns="0" rtlCol="0" anchor="ctr"/>
          <a:lstStyle/>
          <a:p>
            <a:pPr indent="0" marL="0">
              <a:buNone/>
            </a:pPr>
            <a:r>
              <a:rPr lang="en-US" sz="1100" b="1" dirty="0">
                <a:solidFill>
                  <a:schemeClr val="accent5"/>
                </a:solidFill>
              </a:rPr>
              <a:t>26/10/2026</a:t>
            </a:r>
            <a:endParaRPr lang="en-US" sz="1100" dirty="0"/>
          </a:p>
        </p:txBody>
      </p:sp>
      <p:sp>
        <p:nvSpPr>
          <p:cNvPr id="4" name="Text 1"/>
          <p:cNvSpPr/>
          <p:nvPr/>
        </p:nvSpPr>
        <p:spPr>
          <a:xfrm>
            <a:off x="4270248" y="6446520"/>
            <a:ext cx="3657600" cy="274320"/>
          </a:xfrm>
          <a:prstGeom prst="rect">
            <a:avLst/>
          </a:prstGeom>
          <a:noFill/>
          <a:ln/>
        </p:spPr>
        <p:txBody>
          <a:bodyPr wrap="square" lIns="0" tIns="0" rIns="0" bIns="0" rtlCol="0" anchor="ctr"/>
          <a:lstStyle/>
          <a:p>
            <a:pPr algn="ctr" indent="0" marL="0">
              <a:buNone/>
            </a:pPr>
            <a:r>
              <a:rPr lang="en-US" sz="1100" b="1" dirty="0">
                <a:solidFill>
                  <a:schemeClr val="accent5"/>
                </a:solidFill>
              </a:rPr>
              <a:t>SOA Project Review-4</a:t>
            </a:r>
            <a:endParaRPr lang="en-US" sz="11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561320" y="164592"/>
            <a:ext cx="1325880" cy="539496"/>
          </a:xfrm>
          <a:prstGeom prst="rect">
            <a:avLst/>
          </a:prstGeom>
        </p:spPr>
      </p:pic>
      <p:sp>
        <p:nvSpPr>
          <p:cNvPr id="3" name="Text 0"/>
          <p:cNvSpPr/>
          <p:nvPr/>
        </p:nvSpPr>
        <p:spPr>
          <a:xfrm>
            <a:off x="548640" y="6446520"/>
            <a:ext cx="2743200" cy="274320"/>
          </a:xfrm>
          <a:prstGeom prst="rect">
            <a:avLst/>
          </a:prstGeom>
          <a:noFill/>
          <a:ln/>
        </p:spPr>
        <p:txBody>
          <a:bodyPr wrap="square" lIns="0" tIns="0" rIns="0" bIns="0" rtlCol="0" anchor="ctr"/>
          <a:lstStyle/>
          <a:p>
            <a:pPr indent="0" marL="0">
              <a:buNone/>
            </a:pPr>
            <a:r>
              <a:rPr lang="en-US" sz="1100" b="1" dirty="0">
                <a:solidFill>
                  <a:schemeClr val="accent5"/>
                </a:solidFill>
              </a:rPr>
              <a:t>26/10/2026</a:t>
            </a:r>
            <a:endParaRPr lang="en-US" sz="1100" dirty="0"/>
          </a:p>
        </p:txBody>
      </p:sp>
      <p:sp>
        <p:nvSpPr>
          <p:cNvPr id="4" name="Text 1"/>
          <p:cNvSpPr/>
          <p:nvPr/>
        </p:nvSpPr>
        <p:spPr>
          <a:xfrm>
            <a:off x="4270248" y="6446520"/>
            <a:ext cx="3657600" cy="274320"/>
          </a:xfrm>
          <a:prstGeom prst="rect">
            <a:avLst/>
          </a:prstGeom>
          <a:noFill/>
          <a:ln/>
        </p:spPr>
        <p:txBody>
          <a:bodyPr wrap="square" lIns="0" tIns="0" rIns="0" bIns="0" rtlCol="0" anchor="ctr"/>
          <a:lstStyle/>
          <a:p>
            <a:pPr algn="ctr" indent="0" marL="0">
              <a:buNone/>
            </a:pPr>
            <a:r>
              <a:rPr lang="en-US" sz="1100" b="1" dirty="0">
                <a:solidFill>
                  <a:schemeClr val="accent5"/>
                </a:solidFill>
              </a:rPr>
              <a:t>SOA Project Review-4</a:t>
            </a:r>
            <a:endParaRPr lang="en-US" sz="1100" dirty="0"/>
          </a:p>
        </p:txBody>
      </p:sp>
      <p:sp>
        <p:nvSpPr>
          <p:cNvPr id="5" name="Text 2"/>
          <p:cNvSpPr/>
          <p:nvPr>
            <p:ph idx="103" type="title" hasCustomPrompt="1"/>
          </p:nvPr>
        </p:nvSpPr>
        <p:spPr>
          <a:xfrm>
            <a:off x="914400" y="274320"/>
            <a:ext cx="9509760" cy="777240"/>
          </a:xfrm>
          <a:prstGeom prst="rect">
            <a:avLst/>
          </a:prstGeom>
          <a:noFill/>
          <a:ln/>
        </p:spPr>
        <p:txBody>
          <a:bodyPr wrap="square" rtlCol="0"/>
          <a:lstStyle>
            <a:lvl1pPr algn="ctr" indent="0" marL="0">
              <a:buNone/>
              <a:defRPr lang="en-US" sz="3400" b="1" dirty="0">
                <a:solidFill>
                  <a:schemeClr val="accent1"/>
                </a:solidFill>
              </a:defRPr>
            </a:lvl1pPr>
          </a:lstStyle>
          <a:p>
            <a:pPr algn="ctr" indent="0" marL="0">
              <a:buNone/>
            </a:pPr>
            <a:endParaRPr lang="en-US" sz="3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274320"/>
            <a:ext cx="9235440" cy="777240"/>
          </a:xfrm>
          <a:prstGeom prst="roundRect">
            <a:avLst>
              <a:gd name="adj" fmla="val 11765"/>
            </a:avLst>
          </a:prstGeom>
          <a:solidFill>
            <a:schemeClr val="accent1"/>
          </a:solidFill>
          <a:ln w="19050">
            <a:solidFill>
              <a:schemeClr val="tx2"/>
            </a:solidFill>
            <a:prstDash val="solid"/>
          </a:ln>
        </p:spPr>
      </p:sp>
      <p:sp>
        <p:nvSpPr>
          <p:cNvPr id="3" name="Text 1"/>
          <p:cNvSpPr txBox="1"/>
          <p:nvPr/>
        </p:nvSpPr>
        <p:spPr>
          <a:xfrm>
            <a:off x="548640" y="274320"/>
            <a:ext cx="9235440" cy="777240"/>
          </a:xfrm>
          <a:prstGeom prst="rect">
            <a:avLst/>
          </a:prstGeom>
          <a:noFill/>
          <a:ln/>
        </p:spPr>
        <p:txBody>
          <a:bodyPr wrap="square" lIns="0" tIns="0" rIns="0" bIns="0" rtlCol="0" anchor="ctr"/>
          <a:lstStyle/>
          <a:p>
            <a:pPr algn="ctr" indent="0" marL="0">
              <a:buNone/>
            </a:pPr>
            <a:r>
              <a:rPr lang="en-US" sz="2800" b="1" dirty="0">
                <a:solidFill>
                  <a:schemeClr val="bg1"/>
                </a:solidFill>
              </a:rPr>
              <a:t>AI Smart Library Assistant &amp; Management System</a:t>
            </a:r>
            <a:endParaRPr lang="en-US" sz="2800" dirty="0"/>
          </a:p>
        </p:txBody>
      </p:sp>
      <p:sp>
        <p:nvSpPr>
          <p:cNvPr id="4" name="Text 2"/>
          <p:cNvSpPr txBox="1"/>
          <p:nvPr/>
        </p:nvSpPr>
        <p:spPr>
          <a:xfrm>
            <a:off x="1371600" y="1737360"/>
            <a:ext cx="9418320" cy="731520"/>
          </a:xfrm>
          <a:prstGeom prst="rect">
            <a:avLst/>
          </a:prstGeom>
          <a:noFill/>
          <a:ln/>
        </p:spPr>
        <p:txBody>
          <a:bodyPr wrap="square" lIns="0" tIns="0" rIns="0" bIns="0" rtlCol="0" anchor="ctr"/>
          <a:lstStyle/>
          <a:p>
            <a:pPr algn="ctr" indent="0" marL="0">
              <a:buNone/>
            </a:pPr>
            <a:r>
              <a:rPr lang="en-US" sz="3800" b="1" dirty="0">
                <a:solidFill>
                  <a:schemeClr val="tx1"/>
                </a:solidFill>
                <a:latin typeface="+mj-lt" pitchFamily="34" charset="0"/>
                <a:ea typeface="+mj-lt" pitchFamily="34" charset="-122"/>
                <a:cs typeface="+mj-lt" pitchFamily="34" charset="-120"/>
              </a:rPr>
              <a:t>SOA Project Review-4</a:t>
            </a:r>
            <a:endParaRPr lang="en-US" sz="3800" dirty="0"/>
          </a:p>
        </p:txBody>
      </p:sp>
      <p:sp>
        <p:nvSpPr>
          <p:cNvPr id="5" name="Text 3"/>
          <p:cNvSpPr txBox="1"/>
          <p:nvPr/>
        </p:nvSpPr>
        <p:spPr>
          <a:xfrm>
            <a:off x="4727448" y="2743200"/>
            <a:ext cx="2743200" cy="457200"/>
          </a:xfrm>
          <a:prstGeom prst="rect">
            <a:avLst/>
          </a:prstGeom>
          <a:noFill/>
          <a:ln/>
        </p:spPr>
        <p:txBody>
          <a:bodyPr wrap="square" lIns="0" tIns="0" rIns="0" bIns="0" rtlCol="0" anchor="ctr"/>
          <a:lstStyle/>
          <a:p>
            <a:pPr algn="ctr" indent="0" marL="0">
              <a:buNone/>
            </a:pPr>
            <a:r>
              <a:rPr lang="en-US" sz="2200" b="1" dirty="0">
                <a:solidFill>
                  <a:schemeClr val="accent3"/>
                </a:solidFill>
                <a:latin typeface="+mj-lt" pitchFamily="34" charset="0"/>
                <a:ea typeface="+mj-lt" pitchFamily="34" charset="-122"/>
                <a:cs typeface="+mj-lt" pitchFamily="34" charset="-120"/>
              </a:rPr>
              <a:t>26/10/2026</a:t>
            </a:r>
            <a:endParaRPr lang="en-US" sz="2200" dirty="0"/>
          </a:p>
        </p:txBody>
      </p:sp>
      <p:sp>
        <p:nvSpPr>
          <p:cNvPr id="6" name="Text 4"/>
          <p:cNvSpPr txBox="1"/>
          <p:nvPr/>
        </p:nvSpPr>
        <p:spPr>
          <a:xfrm>
            <a:off x="548640" y="4206240"/>
            <a:ext cx="5486400" cy="1463040"/>
          </a:xfrm>
          <a:prstGeom prst="rect">
            <a:avLst/>
          </a:prstGeom>
          <a:noFill/>
          <a:ln/>
        </p:spPr>
        <p:txBody>
          <a:bodyPr wrap="square" lIns="0" tIns="0" rIns="0" bIns="0" rtlCol="0" anchor="t"/>
          <a:lstStyle/>
          <a:p>
            <a:pPr indent="0" marL="0">
              <a:buNone/>
            </a:pPr>
            <a:r>
              <a:rPr lang="en-US" sz="1600" b="1" dirty="0">
                <a:solidFill>
                  <a:schemeClr val="accent3"/>
                </a:solidFill>
              </a:rPr>
              <a:t>Under the Guidance of</a:t>
            </a:r>
            <a:endParaRPr lang="en-US" sz="1600" dirty="0"/>
          </a:p>
          <a:p>
            <a:pPr indent="0" marL="0">
              <a:buNone/>
            </a:pPr>
            <a:r>
              <a:rPr lang="en-US" sz="2200" b="1" dirty="0">
                <a:solidFill>
                  <a:schemeClr val="tx1"/>
                </a:solidFill>
              </a:rPr>
              <a:t>Dr. Neelima Gogineni</a:t>
            </a:r>
            <a:endParaRPr lang="en-US" sz="1600" dirty="0"/>
          </a:p>
          <a:p>
            <a:pPr indent="0" marL="0">
              <a:buNone/>
            </a:pPr>
            <a:r>
              <a:rPr lang="en-US" sz="1400" dirty="0">
                <a:solidFill>
                  <a:schemeClr val="tx1"/>
                </a:solidFill>
              </a:rPr>
              <a:t>SOA Professor, Department of Computer Science and Engineering,</a:t>
            </a:r>
            <a:endParaRPr lang="en-US" sz="1600" dirty="0"/>
          </a:p>
          <a:p>
            <a:pPr indent="0" marL="0">
              <a:buNone/>
            </a:pPr>
            <a:r>
              <a:rPr lang="en-US" sz="1400" dirty="0">
                <a:solidFill>
                  <a:schemeClr val="tx1"/>
                </a:solidFill>
              </a:rPr>
              <a:t>KLH CSE Bowrampet Campus</a:t>
            </a:r>
            <a:endParaRPr lang="en-US" sz="1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675120" y="4114800"/>
          <a:ext cx="4937760" cy="914400"/>
        </p:xfrm>
        <a:graphic>
          <a:graphicData uri="http://schemas.openxmlformats.org/drawingml/2006/table">
            <a:tbl>
              <a:tblPr/>
              <a:tblGrid>
                <a:gridCol w="2743200"/>
                <a:gridCol w="2194560"/>
              </a:tblGrid>
              <a:tr h="438912">
                <a:tc>
                  <a:txBody>
                    <a:bodyPr/>
                    <a:lstStyle/>
                    <a:p>
                      <a:pPr indent="0" marL="0">
                        <a:buNone/>
                      </a:pPr>
                      <a:r>
                        <a:rPr lang="en-US" sz="1600" b="1" dirty="0">
                          <a:solidFill>
                            <a:schemeClr val="bg1"/>
                          </a:solidFill>
                        </a:rPr>
                        <a:t>Name</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accent2"/>
                    </a:solidFill>
                  </a:tcPr>
                </a:tc>
                <a:tc>
                  <a:txBody>
                    <a:bodyPr/>
                    <a:lstStyle/>
                    <a:p>
                      <a:pPr indent="0" marL="0">
                        <a:buNone/>
                      </a:pPr>
                      <a:r>
                        <a:rPr lang="en-US" sz="1600" b="1" dirty="0">
                          <a:solidFill>
                            <a:schemeClr val="bg1"/>
                          </a:solidFill>
                        </a:rPr>
                        <a:t>Roll.NO</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accent2"/>
                    </a:solidFill>
                  </a:tcPr>
                </a:tc>
              </a:tr>
              <a:tr h="438912">
                <a:tc>
                  <a:txBody>
                    <a:bodyPr/>
                    <a:lstStyle/>
                    <a:p>
                      <a:pPr indent="0" marL="0">
                        <a:buNone/>
                      </a:pPr>
                      <a:r>
                        <a:rPr lang="en-US" sz="1600" dirty="0">
                          <a:solidFill>
                            <a:schemeClr val="tx1"/>
                          </a:solidFill>
                        </a:rPr>
                        <a:t>P. Likith Sai</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2420030066</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438912">
                <a:tc>
                  <a:txBody>
                    <a:bodyPr/>
                    <a:lstStyle/>
                    <a:p>
                      <a:pPr indent="0" marL="0">
                        <a:buNone/>
                      </a:pPr>
                      <a:r>
                        <a:rPr lang="en-US" sz="1600" dirty="0">
                          <a:solidFill>
                            <a:schemeClr val="tx1"/>
                          </a:solidFill>
                        </a:rPr>
                        <a:t>K. Vishnu Priya</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2420030630</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r h="438912">
                <a:tc>
                  <a:txBody>
                    <a:bodyPr/>
                    <a:lstStyle/>
                    <a:p>
                      <a:pPr indent="0" marL="0">
                        <a:buNone/>
                      </a:pPr>
                      <a:r>
                        <a:rPr lang="en-US" sz="1600" dirty="0">
                          <a:solidFill>
                            <a:schemeClr val="tx1"/>
                          </a:solidFill>
                        </a:rPr>
                        <a:t>B. Nagaraju</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2420030614</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Outline of Project Work</a:t>
            </a:r>
            <a:endParaRPr lang="en-US" sz="3400" dirty="0"/>
          </a:p>
        </p:txBody>
      </p:sp>
      <p:sp>
        <p:nvSpPr>
          <p:cNvPr id="3" name="Shape 1"/>
          <p:cNvSpPr/>
          <p:nvPr/>
        </p:nvSpPr>
        <p:spPr>
          <a:xfrm>
            <a:off x="1097280" y="1280160"/>
            <a:ext cx="5760720" cy="475488"/>
          </a:xfrm>
          <a:prstGeom prst="rect">
            <a:avLst/>
          </a:prstGeom>
          <a:solidFill>
            <a:schemeClr val="accent5"/>
          </a:solidFill>
          <a:ln w="19050">
            <a:solidFill>
              <a:schemeClr val="accent4"/>
            </a:solidFill>
            <a:prstDash val="solid"/>
          </a:ln>
        </p:spPr>
      </p:sp>
      <p:sp>
        <p:nvSpPr>
          <p:cNvPr id="4" name="Text 2"/>
          <p:cNvSpPr txBox="1"/>
          <p:nvPr/>
        </p:nvSpPr>
        <p:spPr>
          <a:xfrm>
            <a:off x="1280160" y="1280160"/>
            <a:ext cx="5486400" cy="475488"/>
          </a:xfrm>
          <a:prstGeom prst="rect">
            <a:avLst/>
          </a:prstGeom>
          <a:noFill/>
          <a:ln/>
        </p:spPr>
        <p:txBody>
          <a:bodyPr wrap="square" lIns="0" tIns="0" rIns="0" bIns="0" rtlCol="0" anchor="ctr"/>
          <a:lstStyle/>
          <a:p>
            <a:pPr marL="342900" indent="-342900">
              <a:buSzPct val="100000"/>
              <a:buChar char="•"/>
            </a:pPr>
            <a:r>
              <a:rPr lang="en-US" sz="1600" b="1" dirty="0">
                <a:solidFill>
                  <a:schemeClr val="bg1"/>
                </a:solidFill>
                <a:latin typeface="+mj-lt" pitchFamily="34" charset="0"/>
                <a:ea typeface="+mj-lt" pitchFamily="34" charset="-122"/>
                <a:cs typeface="+mj-lt" pitchFamily="34" charset="-120"/>
              </a:rPr>
              <a:t>Introduction</a:t>
            </a:r>
            <a:endParaRPr lang="en-US" sz="1600" dirty="0"/>
          </a:p>
        </p:txBody>
      </p:sp>
      <p:sp>
        <p:nvSpPr>
          <p:cNvPr id="5" name="Shape 3"/>
          <p:cNvSpPr/>
          <p:nvPr/>
        </p:nvSpPr>
        <p:spPr>
          <a:xfrm>
            <a:off x="1554480" y="1892808"/>
            <a:ext cx="5760720" cy="475488"/>
          </a:xfrm>
          <a:prstGeom prst="rect">
            <a:avLst/>
          </a:prstGeom>
          <a:solidFill>
            <a:schemeClr val="accent5"/>
          </a:solidFill>
          <a:ln w="19050">
            <a:solidFill>
              <a:schemeClr val="accent4"/>
            </a:solidFill>
            <a:prstDash val="solid"/>
          </a:ln>
        </p:spPr>
      </p:sp>
      <p:sp>
        <p:nvSpPr>
          <p:cNvPr id="6" name="Text 4"/>
          <p:cNvSpPr txBox="1"/>
          <p:nvPr/>
        </p:nvSpPr>
        <p:spPr>
          <a:xfrm>
            <a:off x="1737360" y="1892808"/>
            <a:ext cx="5486400" cy="475488"/>
          </a:xfrm>
          <a:prstGeom prst="rect">
            <a:avLst/>
          </a:prstGeom>
          <a:noFill/>
          <a:ln/>
        </p:spPr>
        <p:txBody>
          <a:bodyPr wrap="square" lIns="0" tIns="0" rIns="0" bIns="0" rtlCol="0" anchor="ctr"/>
          <a:lstStyle/>
          <a:p>
            <a:pPr marL="342900" indent="-342900">
              <a:buSzPct val="100000"/>
              <a:buChar char="•"/>
            </a:pPr>
            <a:r>
              <a:rPr lang="en-US" sz="1600" b="1" dirty="0">
                <a:solidFill>
                  <a:schemeClr val="bg1"/>
                </a:solidFill>
                <a:latin typeface="+mj-lt" pitchFamily="34" charset="0"/>
                <a:ea typeface="+mj-lt" pitchFamily="34" charset="-122"/>
                <a:cs typeface="+mj-lt" pitchFamily="34" charset="-120"/>
              </a:rPr>
              <a:t>Literature Survey</a:t>
            </a:r>
            <a:endParaRPr lang="en-US" sz="1600" dirty="0"/>
          </a:p>
        </p:txBody>
      </p:sp>
      <p:sp>
        <p:nvSpPr>
          <p:cNvPr id="7" name="Shape 5"/>
          <p:cNvSpPr/>
          <p:nvPr/>
        </p:nvSpPr>
        <p:spPr>
          <a:xfrm>
            <a:off x="2011680" y="2505456"/>
            <a:ext cx="5760720" cy="475488"/>
          </a:xfrm>
          <a:prstGeom prst="rect">
            <a:avLst/>
          </a:prstGeom>
          <a:solidFill>
            <a:schemeClr val="accent5"/>
          </a:solidFill>
          <a:ln w="19050">
            <a:solidFill>
              <a:schemeClr val="accent4"/>
            </a:solidFill>
            <a:prstDash val="solid"/>
          </a:ln>
        </p:spPr>
      </p:sp>
      <p:sp>
        <p:nvSpPr>
          <p:cNvPr id="8" name="Text 6"/>
          <p:cNvSpPr txBox="1"/>
          <p:nvPr/>
        </p:nvSpPr>
        <p:spPr>
          <a:xfrm>
            <a:off x="2194560" y="2505456"/>
            <a:ext cx="5486400" cy="475488"/>
          </a:xfrm>
          <a:prstGeom prst="rect">
            <a:avLst/>
          </a:prstGeom>
          <a:noFill/>
          <a:ln/>
        </p:spPr>
        <p:txBody>
          <a:bodyPr wrap="square" lIns="0" tIns="0" rIns="0" bIns="0" rtlCol="0" anchor="ctr"/>
          <a:lstStyle/>
          <a:p>
            <a:pPr marL="342900" indent="-342900">
              <a:buSzPct val="100000"/>
              <a:buChar char="•"/>
            </a:pPr>
            <a:r>
              <a:rPr lang="en-US" sz="1600" b="1" dirty="0">
                <a:solidFill>
                  <a:schemeClr val="bg1"/>
                </a:solidFill>
                <a:latin typeface="+mj-lt" pitchFamily="34" charset="0"/>
                <a:ea typeface="+mj-lt" pitchFamily="34" charset="-122"/>
                <a:cs typeface="+mj-lt" pitchFamily="34" charset="-120"/>
              </a:rPr>
              <a:t>Novelty and Methodology</a:t>
            </a:r>
            <a:endParaRPr lang="en-US" sz="1600" dirty="0"/>
          </a:p>
        </p:txBody>
      </p:sp>
      <p:sp>
        <p:nvSpPr>
          <p:cNvPr id="9" name="Shape 7"/>
          <p:cNvSpPr/>
          <p:nvPr/>
        </p:nvSpPr>
        <p:spPr>
          <a:xfrm>
            <a:off x="2468880" y="3118104"/>
            <a:ext cx="5760720" cy="475488"/>
          </a:xfrm>
          <a:prstGeom prst="rect">
            <a:avLst/>
          </a:prstGeom>
          <a:solidFill>
            <a:schemeClr val="accent5"/>
          </a:solidFill>
          <a:ln w="19050">
            <a:solidFill>
              <a:schemeClr val="accent4"/>
            </a:solidFill>
            <a:prstDash val="solid"/>
          </a:ln>
        </p:spPr>
      </p:sp>
      <p:sp>
        <p:nvSpPr>
          <p:cNvPr id="10" name="Text 8"/>
          <p:cNvSpPr txBox="1"/>
          <p:nvPr/>
        </p:nvSpPr>
        <p:spPr>
          <a:xfrm>
            <a:off x="2651760" y="3118104"/>
            <a:ext cx="5486400" cy="475488"/>
          </a:xfrm>
          <a:prstGeom prst="rect">
            <a:avLst/>
          </a:prstGeom>
          <a:noFill/>
          <a:ln/>
        </p:spPr>
        <p:txBody>
          <a:bodyPr wrap="square" lIns="0" tIns="0" rIns="0" bIns="0" rtlCol="0" anchor="ctr"/>
          <a:lstStyle/>
          <a:p>
            <a:pPr marL="342900" indent="-342900">
              <a:buSzPct val="100000"/>
              <a:buChar char="•"/>
            </a:pPr>
            <a:r>
              <a:rPr lang="en-US" sz="1600" b="1" dirty="0">
                <a:solidFill>
                  <a:schemeClr val="bg1"/>
                </a:solidFill>
                <a:latin typeface="+mj-lt" pitchFamily="34" charset="0"/>
                <a:ea typeface="+mj-lt" pitchFamily="34" charset="-122"/>
                <a:cs typeface="+mj-lt" pitchFamily="34" charset="-120"/>
              </a:rPr>
              <a:t>System Architecture</a:t>
            </a:r>
            <a:endParaRPr lang="en-US" sz="1600" dirty="0"/>
          </a:p>
        </p:txBody>
      </p:sp>
      <p:sp>
        <p:nvSpPr>
          <p:cNvPr id="11" name="Shape 9"/>
          <p:cNvSpPr/>
          <p:nvPr/>
        </p:nvSpPr>
        <p:spPr>
          <a:xfrm>
            <a:off x="2926080" y="3730752"/>
            <a:ext cx="5760720" cy="475488"/>
          </a:xfrm>
          <a:prstGeom prst="rect">
            <a:avLst/>
          </a:prstGeom>
          <a:solidFill>
            <a:schemeClr val="accent5"/>
          </a:solidFill>
          <a:ln w="19050">
            <a:solidFill>
              <a:schemeClr val="accent4"/>
            </a:solidFill>
            <a:prstDash val="solid"/>
          </a:ln>
        </p:spPr>
      </p:sp>
      <p:sp>
        <p:nvSpPr>
          <p:cNvPr id="12" name="Text 10"/>
          <p:cNvSpPr txBox="1"/>
          <p:nvPr/>
        </p:nvSpPr>
        <p:spPr>
          <a:xfrm>
            <a:off x="3108960" y="3730752"/>
            <a:ext cx="5486400" cy="475488"/>
          </a:xfrm>
          <a:prstGeom prst="rect">
            <a:avLst/>
          </a:prstGeom>
          <a:noFill/>
          <a:ln/>
        </p:spPr>
        <p:txBody>
          <a:bodyPr wrap="square" lIns="0" tIns="0" rIns="0" bIns="0" rtlCol="0" anchor="ctr"/>
          <a:lstStyle/>
          <a:p>
            <a:pPr marL="342900" indent="-342900">
              <a:buSzPct val="100000"/>
              <a:buChar char="•"/>
            </a:pPr>
            <a:r>
              <a:rPr lang="en-US" sz="1600" b="1" dirty="0">
                <a:solidFill>
                  <a:schemeClr val="bg1"/>
                </a:solidFill>
                <a:latin typeface="+mj-lt" pitchFamily="34" charset="0"/>
                <a:ea typeface="+mj-lt" pitchFamily="34" charset="-122"/>
                <a:cs typeface="+mj-lt" pitchFamily="34" charset="-120"/>
              </a:rPr>
              <a:t>Implementation and Results</a:t>
            </a:r>
            <a:endParaRPr lang="en-US" sz="1600" dirty="0"/>
          </a:p>
        </p:txBody>
      </p:sp>
      <p:sp>
        <p:nvSpPr>
          <p:cNvPr id="13" name="Shape 11"/>
          <p:cNvSpPr/>
          <p:nvPr/>
        </p:nvSpPr>
        <p:spPr>
          <a:xfrm>
            <a:off x="3383280" y="4343400"/>
            <a:ext cx="5760720" cy="475488"/>
          </a:xfrm>
          <a:prstGeom prst="rect">
            <a:avLst/>
          </a:prstGeom>
          <a:solidFill>
            <a:schemeClr val="accent5"/>
          </a:solidFill>
          <a:ln w="19050">
            <a:solidFill>
              <a:schemeClr val="accent4"/>
            </a:solidFill>
            <a:prstDash val="solid"/>
          </a:ln>
        </p:spPr>
      </p:sp>
      <p:sp>
        <p:nvSpPr>
          <p:cNvPr id="14" name="Text 12"/>
          <p:cNvSpPr txBox="1"/>
          <p:nvPr/>
        </p:nvSpPr>
        <p:spPr>
          <a:xfrm>
            <a:off x="3566160" y="4343400"/>
            <a:ext cx="5486400" cy="475488"/>
          </a:xfrm>
          <a:prstGeom prst="rect">
            <a:avLst/>
          </a:prstGeom>
          <a:noFill/>
          <a:ln/>
        </p:spPr>
        <p:txBody>
          <a:bodyPr wrap="square" lIns="0" tIns="0" rIns="0" bIns="0" rtlCol="0" anchor="ctr"/>
          <a:lstStyle/>
          <a:p>
            <a:pPr marL="342900" indent="-342900">
              <a:buSzPct val="100000"/>
              <a:buChar char="•"/>
            </a:pPr>
            <a:r>
              <a:rPr lang="en-US" sz="1600" b="1" dirty="0">
                <a:solidFill>
                  <a:schemeClr val="bg1"/>
                </a:solidFill>
                <a:latin typeface="+mj-lt" pitchFamily="34" charset="0"/>
                <a:ea typeface="+mj-lt" pitchFamily="34" charset="-122"/>
                <a:cs typeface="+mj-lt" pitchFamily="34" charset="-120"/>
              </a:rPr>
              <a:t>Evaluation and Innovation</a:t>
            </a:r>
            <a:endParaRPr lang="en-US" sz="1600" dirty="0"/>
          </a:p>
        </p:txBody>
      </p:sp>
      <p:sp>
        <p:nvSpPr>
          <p:cNvPr id="15" name="Shape 13"/>
          <p:cNvSpPr/>
          <p:nvPr/>
        </p:nvSpPr>
        <p:spPr>
          <a:xfrm>
            <a:off x="3840480" y="4956048"/>
            <a:ext cx="5760720" cy="475488"/>
          </a:xfrm>
          <a:prstGeom prst="rect">
            <a:avLst/>
          </a:prstGeom>
          <a:solidFill>
            <a:schemeClr val="accent5"/>
          </a:solidFill>
          <a:ln w="19050">
            <a:solidFill>
              <a:schemeClr val="accent4"/>
            </a:solidFill>
            <a:prstDash val="solid"/>
          </a:ln>
        </p:spPr>
      </p:sp>
      <p:sp>
        <p:nvSpPr>
          <p:cNvPr id="16" name="Text 14"/>
          <p:cNvSpPr txBox="1"/>
          <p:nvPr/>
        </p:nvSpPr>
        <p:spPr>
          <a:xfrm>
            <a:off x="4023360" y="4956048"/>
            <a:ext cx="5486400" cy="475488"/>
          </a:xfrm>
          <a:prstGeom prst="rect">
            <a:avLst/>
          </a:prstGeom>
          <a:noFill/>
          <a:ln/>
        </p:spPr>
        <p:txBody>
          <a:bodyPr wrap="square" lIns="0" tIns="0" rIns="0" bIns="0" rtlCol="0" anchor="ctr"/>
          <a:lstStyle/>
          <a:p>
            <a:pPr marL="342900" indent="-342900">
              <a:buSzPct val="100000"/>
              <a:buChar char="•"/>
            </a:pPr>
            <a:r>
              <a:rPr lang="en-US" sz="1600" b="1" dirty="0">
                <a:solidFill>
                  <a:schemeClr val="bg1"/>
                </a:solidFill>
                <a:latin typeface="+mj-lt" pitchFamily="34" charset="0"/>
                <a:ea typeface="+mj-lt" pitchFamily="34" charset="-122"/>
                <a:cs typeface="+mj-lt" pitchFamily="34" charset="-120"/>
              </a:rPr>
              <a:t>Utility, Dissemination and Accessibility</a:t>
            </a:r>
            <a:endParaRPr lang="en-US" sz="1600" dirty="0"/>
          </a:p>
        </p:txBody>
      </p:sp>
      <p:sp>
        <p:nvSpPr>
          <p:cNvPr id="17" name="Shape 15"/>
          <p:cNvSpPr/>
          <p:nvPr/>
        </p:nvSpPr>
        <p:spPr>
          <a:xfrm>
            <a:off x="4297680" y="5568696"/>
            <a:ext cx="5760720" cy="475488"/>
          </a:xfrm>
          <a:prstGeom prst="rect">
            <a:avLst/>
          </a:prstGeom>
          <a:solidFill>
            <a:schemeClr val="accent5"/>
          </a:solidFill>
          <a:ln w="19050">
            <a:solidFill>
              <a:schemeClr val="accent4"/>
            </a:solidFill>
            <a:prstDash val="solid"/>
          </a:ln>
        </p:spPr>
      </p:sp>
      <p:sp>
        <p:nvSpPr>
          <p:cNvPr id="18" name="Text 16"/>
          <p:cNvSpPr txBox="1"/>
          <p:nvPr/>
        </p:nvSpPr>
        <p:spPr>
          <a:xfrm>
            <a:off x="4480560" y="5568696"/>
            <a:ext cx="5486400" cy="475488"/>
          </a:xfrm>
          <a:prstGeom prst="rect">
            <a:avLst/>
          </a:prstGeom>
          <a:noFill/>
          <a:ln/>
        </p:spPr>
        <p:txBody>
          <a:bodyPr wrap="square" lIns="0" tIns="0" rIns="0" bIns="0" rtlCol="0" anchor="ctr"/>
          <a:lstStyle/>
          <a:p>
            <a:pPr marL="342900" indent="-342900">
              <a:buSzPct val="100000"/>
              <a:buChar char="•"/>
            </a:pPr>
            <a:r>
              <a:rPr lang="en-US" sz="1600" b="1" dirty="0">
                <a:solidFill>
                  <a:schemeClr val="bg1"/>
                </a:solidFill>
                <a:latin typeface="+mj-lt" pitchFamily="34" charset="0"/>
                <a:ea typeface="+mj-lt" pitchFamily="34" charset="-122"/>
                <a:cs typeface="+mj-lt" pitchFamily="34" charset="-120"/>
              </a:rPr>
              <a:t>Conclusion and References</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Problem Statement</a:t>
            </a:r>
            <a:endParaRPr lang="en-US" sz="3400" dirty="0"/>
          </a:p>
        </p:txBody>
      </p:sp>
      <p:sp>
        <p:nvSpPr>
          <p:cNvPr id="3" name="Text 1"/>
          <p:cNvSpPr txBox="1"/>
          <p:nvPr/>
        </p:nvSpPr>
        <p:spPr>
          <a:xfrm>
            <a:off x="822960" y="1554480"/>
            <a:ext cx="10515600" cy="4389120"/>
          </a:xfrm>
          <a:prstGeom prst="rect">
            <a:avLst/>
          </a:prstGeom>
          <a:noFill/>
          <a:ln/>
        </p:spPr>
        <p:txBody>
          <a:bodyPr wrap="square" lIns="0" tIns="0" rIns="0" bIns="0" rtlCol="0" anchor="t"/>
          <a:lstStyle/>
          <a:p>
            <a:pPr algn="just" indent="0" marL="0">
              <a:lnSpc>
                <a:spcPct val="115000"/>
              </a:lnSpc>
              <a:spcAft>
                <a:spcPts val="600"/>
              </a:spcAft>
              <a:buNone/>
            </a:pPr>
            <a:r>
              <a:rPr lang="en-US" sz="2200" dirty="0">
                <a:solidFill>
                  <a:schemeClr val="tx1"/>
                </a:solidFill>
              </a:rPr>
              <a:t>Traditional library management systems rely heavily on manual processes, which makes book searching, tracking, issuing and returning slow. Users often find it hard to locate the right books, and librarians have a tough time handling large collections and keeping records correct.</a:t>
            </a:r>
            <a:endParaRPr lang="en-US" sz="2200" dirty="0"/>
          </a:p>
          <a:p>
            <a:pPr algn="just" indent="0" marL="0">
              <a:lnSpc>
                <a:spcPct val="115000"/>
              </a:lnSpc>
              <a:spcAft>
                <a:spcPts val="600"/>
              </a:spcAft>
              <a:buNone/>
            </a:pPr>
            <a:endParaRPr lang="en-US" sz="2200" dirty="0"/>
          </a:p>
          <a:p>
            <a:pPr algn="just" indent="0" marL="0">
              <a:lnSpc>
                <a:spcPct val="115000"/>
              </a:lnSpc>
              <a:spcAft>
                <a:spcPts val="600"/>
              </a:spcAft>
              <a:buNone/>
            </a:pPr>
            <a:r>
              <a:rPr lang="en-US" sz="2200" dirty="0">
                <a:solidFill>
                  <a:schemeClr val="tx1"/>
                </a:solidFill>
              </a:rPr>
              <a:t>There are also no smart recommendations and no instant help for users, so the overall library experience suffers. Because of this, we need an AI-powered smart library system that automates library work, makes the library easier to use and gives personal help to every user.</a:t>
            </a:r>
            <a:endParaRPr lang="en-US" sz="2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Objectives</a:t>
            </a:r>
            <a:endParaRPr lang="en-US" sz="3400" dirty="0"/>
          </a:p>
        </p:txBody>
      </p:sp>
      <p:sp>
        <p:nvSpPr>
          <p:cNvPr id="3" name="Bullets"/>
          <p:cNvSpPr txBox="1"/>
          <p:nvPr/>
        </p:nvSpPr>
        <p:spPr>
          <a:xfrm>
            <a:off x="1097280" y="1463040"/>
            <a:ext cx="10515600" cy="475488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200" dirty="0">
                <a:solidFill>
                  <a:schemeClr val="tx1"/>
                </a:solidFill>
              </a:rPr>
              <a:t>Develop an AI-powered smart library management system.</a:t>
            </a:r>
            <a:endParaRPr lang="en-US" sz="2200" dirty="0"/>
          </a:p>
          <a:p>
            <a:pPr marL="342900" indent="-342900">
              <a:spcAft>
                <a:spcPts val="1200"/>
              </a:spcAft>
              <a:buSzPct val="100000"/>
              <a:buFont typeface="+mj-lt"/>
              <a:buAutoNum type="arabicPeriod" startAt="1"/>
            </a:pPr>
            <a:r>
              <a:rPr lang="en-US" sz="2200" dirty="0">
                <a:solidFill>
                  <a:schemeClr val="tx1"/>
                </a:solidFill>
              </a:rPr>
              <a:t>Automate book issue, return and reservation.</a:t>
            </a:r>
            <a:endParaRPr lang="en-US" sz="2200" dirty="0"/>
          </a:p>
          <a:p>
            <a:pPr marL="342900" indent="-342900">
              <a:spcAft>
                <a:spcPts val="1200"/>
              </a:spcAft>
              <a:buSzPct val="100000"/>
              <a:buFont typeface="+mj-lt"/>
              <a:buAutoNum type="arabicPeriod" startAt="1"/>
            </a:pPr>
            <a:r>
              <a:rPr lang="en-US" sz="2200" dirty="0">
                <a:solidFill>
                  <a:schemeClr val="tx1"/>
                </a:solidFill>
              </a:rPr>
              <a:t>Provide fast book search.</a:t>
            </a:r>
            <a:endParaRPr lang="en-US" sz="2200" dirty="0"/>
          </a:p>
          <a:p>
            <a:pPr marL="342900" indent="-342900">
              <a:spcAft>
                <a:spcPts val="1200"/>
              </a:spcAft>
              <a:buSzPct val="100000"/>
              <a:buFont typeface="+mj-lt"/>
              <a:buAutoNum type="arabicPeriod" startAt="1"/>
            </a:pPr>
            <a:r>
              <a:rPr lang="en-US" sz="2200" dirty="0">
                <a:solidFill>
                  <a:schemeClr val="tx1"/>
                </a:solidFill>
              </a:rPr>
              <a:t>Recommend books to students based on their syllabus.</a:t>
            </a:r>
            <a:endParaRPr lang="en-US" sz="2200" dirty="0"/>
          </a:p>
          <a:p>
            <a:pPr marL="342900" indent="-342900">
              <a:spcAft>
                <a:spcPts val="1200"/>
              </a:spcAft>
              <a:buSzPct val="100000"/>
              <a:buFont typeface="+mj-lt"/>
              <a:buAutoNum type="arabicPeriod" startAt="1"/>
            </a:pPr>
            <a:r>
              <a:rPr lang="en-US" sz="2200" dirty="0">
                <a:solidFill>
                  <a:schemeClr val="tx1"/>
                </a:solidFill>
              </a:rPr>
              <a:t>Give an AI chatbot for library related questions.</a:t>
            </a:r>
            <a:endParaRPr lang="en-US" sz="2200" dirty="0"/>
          </a:p>
          <a:p>
            <a:pPr marL="342900" indent="-342900">
              <a:spcAft>
                <a:spcPts val="1200"/>
              </a:spcAft>
              <a:buSzPct val="100000"/>
              <a:buFont typeface="+mj-lt"/>
              <a:buAutoNum type="arabicPeriod" startAt="1"/>
            </a:pPr>
            <a:r>
              <a:rPr lang="en-US" sz="2200" dirty="0">
                <a:solidFill>
                  <a:schemeClr val="tx1"/>
                </a:solidFill>
              </a:rPr>
              <a:t>Keep correct records of books, users and fines.</a:t>
            </a:r>
            <a:endParaRPr lang="en-US" sz="2200" dirty="0"/>
          </a:p>
          <a:p>
            <a:pPr marL="342900" indent="-342900">
              <a:spcAft>
                <a:spcPts val="1200"/>
              </a:spcAft>
              <a:buSzPct val="100000"/>
              <a:buFont typeface="+mj-lt"/>
              <a:buAutoNum type="arabicPeriod" startAt="1"/>
            </a:pPr>
            <a:r>
              <a:rPr lang="en-US" sz="2200" dirty="0">
                <a:solidFill>
                  <a:schemeClr val="tx1"/>
                </a:solidFill>
              </a:rPr>
              <a:t>Generate reports and analytics for the admin.</a:t>
            </a:r>
            <a:endParaRPr lang="en-US" sz="2200" dirty="0"/>
          </a:p>
          <a:p>
            <a:pPr marL="342900" indent="-342900">
              <a:spcAft>
                <a:spcPts val="1200"/>
              </a:spcAft>
              <a:buSzPct val="100000"/>
              <a:buFont typeface="+mj-lt"/>
              <a:buAutoNum type="arabicPeriod" startAt="1"/>
            </a:pPr>
            <a:r>
              <a:rPr lang="en-US" sz="2200" dirty="0">
                <a:solidFill>
                  <a:schemeClr val="tx1"/>
                </a:solidFill>
              </a:rPr>
              <a:t>Improve the user experience of library services.</a:t>
            </a:r>
            <a:endParaRPr lang="en-US" sz="2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Literature Survey</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468880"/>
                <a:gridCol w="3383280"/>
                <a:gridCol w="2743200"/>
                <a:gridCol w="2496312"/>
              </a:tblGrid>
              <a:tr h="411480">
                <a:tc>
                  <a:txBody>
                    <a:bodyPr/>
                    <a:lstStyle/>
                    <a:p>
                      <a:pPr indent="0" marL="0">
                        <a:buNone/>
                      </a:pPr>
                      <a:r>
                        <a:rPr lang="en-US" sz="1400" b="1" dirty="0">
                          <a:solidFill>
                            <a:schemeClr val="tx1"/>
                          </a:solidFill>
                        </a:rPr>
                        <a:t>Authors</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rgbClr val="FFFF00"/>
                    </a:solidFill>
                  </a:tcPr>
                </a:tc>
                <a:tc>
                  <a:txBody>
                    <a:bodyPr/>
                    <a:lstStyle/>
                    <a:p>
                      <a:pPr indent="0" marL="0">
                        <a:buNone/>
                      </a:pPr>
                      <a:r>
                        <a:rPr lang="en-US" sz="1400" b="1" dirty="0">
                          <a:solidFill>
                            <a:schemeClr val="tx1"/>
                          </a:solidFill>
                        </a:rPr>
                        <a:t>Title of the Paper</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rgbClr val="FFFF00"/>
                    </a:solidFill>
                  </a:tcPr>
                </a:tc>
                <a:tc>
                  <a:txBody>
                    <a:bodyPr/>
                    <a:lstStyle/>
                    <a:p>
                      <a:pPr indent="0" marL="0">
                        <a:buNone/>
                      </a:pPr>
                      <a:r>
                        <a:rPr lang="en-US" sz="1400" b="1" dirty="0">
                          <a:solidFill>
                            <a:schemeClr val="tx1"/>
                          </a:solidFill>
                        </a:rPr>
                        <a:t>Methodology</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rgbClr val="FFFF00"/>
                    </a:solidFill>
                  </a:tcPr>
                </a:tc>
                <a:tc>
                  <a:txBody>
                    <a:bodyPr/>
                    <a:lstStyle/>
                    <a:p>
                      <a:pPr indent="0" marL="0">
                        <a:buNone/>
                      </a:pPr>
                      <a:r>
                        <a:rPr lang="en-US" sz="1400" b="1" dirty="0">
                          <a:solidFill>
                            <a:schemeClr val="tx1"/>
                          </a:solidFill>
                        </a:rPr>
                        <a:t>Limitation / Future Work</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rgbClr val="FFFF00"/>
                    </a:solidFill>
                  </a:tcPr>
                </a:tc>
              </a:tr>
              <a:tr h="685800">
                <a:tc>
                  <a:txBody>
                    <a:bodyPr/>
                    <a:lstStyle/>
                    <a:p>
                      <a:pPr indent="0" marL="0">
                        <a:buNone/>
                      </a:pPr>
                      <a:r>
                        <a:rPr lang="en-US" sz="1400" b="1" dirty="0">
                          <a:solidFill>
                            <a:schemeClr val="tx1"/>
                          </a:solidFill>
                        </a:rPr>
                        <a:t>M. Musto, G. Semeraro, P. Lops (2016)</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400" i="1" dirty="0">
                          <a:solidFill>
                            <a:schemeClr val="tx1"/>
                          </a:solidFill>
                        </a:rPr>
                        <a:t>Semantics-Aware Recommender Systems for Digital Libraries</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Content-based filtering and semantic analysis</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Needs larger datasets and better user profiling</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914400">
                <a:tc>
                  <a:txBody>
                    <a:bodyPr/>
                    <a:lstStyle/>
                    <a:p>
                      <a:pPr indent="0" marL="0">
                        <a:buNone/>
                      </a:pPr>
                      <a:r>
                        <a:rPr lang="en-US" sz="1400" b="1" dirty="0">
                          <a:solidFill>
                            <a:schemeClr val="tx1"/>
                          </a:solidFill>
                        </a:rPr>
                        <a:t>J. Tejeda-Lorente et al. (2014)</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400" i="1" dirty="0">
                          <a:solidFill>
                            <a:schemeClr val="tx1"/>
                          </a:solidFill>
                        </a:rPr>
                        <a:t>A Recommendation System for Digital Libraries Based on User Profiles and Semantic Filtering</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Semantic filtering and user preference analysis</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Performance drops when user history is limited</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tx1"/>
                          </a:solidFill>
                        </a:rPr>
                        <a:t>A. S. Ghareb, A. A. Bakar, A. R. Hamdan (2019)</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400" i="1" dirty="0">
                          <a:solidFill>
                            <a:schemeClr val="tx1"/>
                          </a:solidFill>
                        </a:rPr>
                        <a:t>Hybrid Recommendation System for Library Services</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Hybrid (collaborative + content-based)</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Needs regular updating of user preference data</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822960">
                <a:tc>
                  <a:txBody>
                    <a:bodyPr/>
                    <a:lstStyle/>
                    <a:p>
                      <a:pPr indent="0" marL="0">
                        <a:buNone/>
                      </a:pPr>
                      <a:r>
                        <a:rPr lang="en-US" sz="1400" b="1" dirty="0">
                          <a:solidFill>
                            <a:schemeClr val="tx1"/>
                          </a:solidFill>
                        </a:rPr>
                        <a:t>Proposed System</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400" i="1" dirty="0">
                          <a:solidFill>
                            <a:schemeClr val="tx1"/>
                          </a:solidFill>
                        </a:rPr>
                        <a:t>AI Smart Library Assistant &amp; Management System</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AI chatbot, syllabus based recommendation, automated circulation</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Voice assistant, mobile app and cloud deployment</a:t>
                      </a:r>
                      <a:endParaRPr lang="en-US" sz="14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349240"/>
            <a:ext cx="11091672" cy="822960"/>
          </a:xfrm>
          <a:prstGeom prst="rect">
            <a:avLst/>
          </a:prstGeom>
          <a:noFill/>
          <a:ln/>
        </p:spPr>
        <p:txBody>
          <a:bodyPr wrap="square" lIns="0" tIns="0" rIns="0" bIns="0" rtlCol="0" anchor="ctr"/>
          <a:lstStyle/>
          <a:p>
            <a:pPr indent="0" marL="0">
              <a:buNone/>
            </a:pPr>
            <a:r>
              <a:rPr lang="en-US" sz="1600" b="1" dirty="0">
                <a:solidFill>
                  <a:schemeClr val="tx1"/>
                </a:solidFill>
              </a:rPr>
              <a:t>Gap: </a:t>
            </a:r>
            <a:pPr indent="0" marL="0">
              <a:buNone/>
            </a:pPr>
            <a:r>
              <a:rPr lang="en-US" sz="1600" dirty="0">
                <a:solidFill>
                  <a:schemeClr val="tx1"/>
                </a:solidFill>
              </a:rPr>
              <a:t>existing systems do not combine library automation, AI recommendation and chatbot help in one place. Our system does this using a service oriented architecture.</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Novelty of Developed Methodology</a:t>
            </a:r>
            <a:endParaRPr lang="en-US" sz="3400" dirty="0"/>
          </a:p>
        </p:txBody>
      </p:sp>
      <p:sp>
        <p:nvSpPr>
          <p:cNvPr id="3" name="Bullets"/>
          <p:cNvSpPr txBox="1"/>
          <p:nvPr/>
        </p:nvSpPr>
        <p:spPr>
          <a:xfrm>
            <a:off x="822960" y="1371600"/>
            <a:ext cx="10515600" cy="4754880"/>
          </a:xfrm>
          <a:prstGeom prst="rect">
            <a:avLst/>
          </a:prstGeom>
          <a:noFill/>
          <a:ln/>
        </p:spPr>
        <p:txBody>
          <a:bodyPr wrap="square" lIns="0" tIns="0" rIns="0" bIns="0" rtlCol="0" anchor="t"/>
          <a:lstStyle/>
          <a:p>
            <a:pPr indent="0" marL="0">
              <a:spcAft>
                <a:spcPts val="1000"/>
              </a:spcAft>
              <a:buNone/>
            </a:pPr>
            <a:r>
              <a:rPr lang="en-US" sz="2100" b="1" dirty="0">
                <a:solidFill>
                  <a:schemeClr val="tx1"/>
                </a:solidFill>
              </a:rPr>
              <a:t>1.  SOA based design: </a:t>
            </a:r>
            <a:pPr indent="0" marL="0">
              <a:spcAft>
                <a:spcPts val="1000"/>
              </a:spcAft>
              <a:buNone/>
            </a:pPr>
            <a:r>
              <a:rPr lang="en-US" sz="2100" dirty="0">
                <a:solidFill>
                  <a:schemeClr val="tx1"/>
                </a:solidFill>
              </a:rPr>
              <a:t>library management, AI features and research papers run as separate services behind one gateway.</a:t>
            </a:r>
            <a:endParaRPr lang="en-US" sz="2100" dirty="0"/>
          </a:p>
          <a:p>
            <a:pPr indent="0" marL="0">
              <a:spcAft>
                <a:spcPts val="1000"/>
              </a:spcAft>
              <a:buNone/>
            </a:pPr>
            <a:r>
              <a:rPr lang="en-US" sz="2100" b="1" dirty="0">
                <a:solidFill>
                  <a:schemeClr val="tx1"/>
                </a:solidFill>
              </a:rPr>
              <a:t>2.  Syllabus Matcher: </a:t>
            </a:r>
            <a:pPr indent="0" marL="0">
              <a:spcAft>
                <a:spcPts val="1000"/>
              </a:spcAft>
              <a:buNone/>
            </a:pPr>
            <a:r>
              <a:rPr lang="en-US" sz="2100" dirty="0">
                <a:solidFill>
                  <a:schemeClr val="tx1"/>
                </a:solidFill>
              </a:rPr>
              <a:t>student pastes a syllabus and the system splits it into units, picks matching books from the catalog and gives a week by week reading plan.</a:t>
            </a:r>
            <a:endParaRPr lang="en-US" sz="2100" dirty="0"/>
          </a:p>
          <a:p>
            <a:pPr indent="0" marL="0">
              <a:spcAft>
                <a:spcPts val="1000"/>
              </a:spcAft>
              <a:buNone/>
            </a:pPr>
            <a:r>
              <a:rPr lang="en-US" sz="2100" b="1" dirty="0">
                <a:solidFill>
                  <a:schemeClr val="tx1"/>
                </a:solidFill>
              </a:rPr>
              <a:t>3.  Reader AI Copilot: </a:t>
            </a:r>
            <a:pPr indent="0" marL="0">
              <a:spcAft>
                <a:spcPts val="1000"/>
              </a:spcAft>
              <a:buNone/>
            </a:pPr>
            <a:r>
              <a:rPr lang="en-US" sz="2100" dirty="0">
                <a:solidFill>
                  <a:schemeClr val="tx1"/>
                </a:solidFill>
              </a:rPr>
              <a:t>select any text in a book and ask the AI to explain, translate, summarize or make a quiz.</a:t>
            </a:r>
            <a:endParaRPr lang="en-US" sz="2100" dirty="0"/>
          </a:p>
          <a:p>
            <a:pPr indent="0" marL="0">
              <a:spcAft>
                <a:spcPts val="1000"/>
              </a:spcAft>
              <a:buNone/>
            </a:pPr>
            <a:r>
              <a:rPr lang="en-US" sz="2100" b="1" dirty="0">
                <a:solidFill>
                  <a:schemeClr val="tx1"/>
                </a:solidFill>
              </a:rPr>
              <a:t>4.  Catalog aware chatbot: </a:t>
            </a:r>
            <a:pPr indent="0" marL="0">
              <a:spcAft>
                <a:spcPts val="1000"/>
              </a:spcAft>
              <a:buNone/>
            </a:pPr>
            <a:r>
              <a:rPr lang="en-US" sz="2100" dirty="0">
                <a:solidFill>
                  <a:schemeClr val="tx1"/>
                </a:solidFill>
              </a:rPr>
              <a:t>the assistant answers using the real book list, shelf location and available copies.</a:t>
            </a:r>
            <a:endParaRPr lang="en-US" sz="2100" dirty="0"/>
          </a:p>
          <a:p>
            <a:pPr indent="0" marL="0">
              <a:spcAft>
                <a:spcPts val="1000"/>
              </a:spcAft>
              <a:buNone/>
            </a:pPr>
            <a:r>
              <a:rPr lang="en-US" sz="2100" b="1" dirty="0">
                <a:solidFill>
                  <a:schemeClr val="tx1"/>
                </a:solidFill>
              </a:rPr>
              <a:t>5.  Research paper help: </a:t>
            </a:r>
            <a:pPr indent="0" marL="0">
              <a:spcAft>
                <a:spcPts val="1000"/>
              </a:spcAft>
              <a:buNone/>
            </a:pPr>
            <a:r>
              <a:rPr lang="en-US" sz="2100" dirty="0">
                <a:solidFill>
                  <a:schemeClr val="tx1"/>
                </a:solidFill>
              </a:rPr>
              <a:t>search papers and get an AI summary or ask questions about a paper.</a:t>
            </a:r>
            <a:endParaRPr lang="en-US" sz="2100" dirty="0"/>
          </a:p>
          <a:p>
            <a:pPr indent="0" marL="0">
              <a:spcAft>
                <a:spcPts val="1000"/>
              </a:spcAft>
              <a:buNone/>
            </a:pPr>
            <a:r>
              <a:rPr lang="en-US" sz="2100" b="1" dirty="0">
                <a:solidFill>
                  <a:schemeClr val="tx1"/>
                </a:solidFill>
              </a:rPr>
              <a:t>6.  Works without AI key: </a:t>
            </a:r>
            <a:pPr indent="0" marL="0">
              <a:spcAft>
                <a:spcPts val="1000"/>
              </a:spcAft>
              <a:buNone/>
            </a:pPr>
            <a:r>
              <a:rPr lang="en-US" sz="2100" dirty="0">
                <a:solidFill>
                  <a:schemeClr val="tx1"/>
                </a:solidFill>
              </a:rPr>
              <a:t>if Gemini is not available the system still answers from the catalog.</a:t>
            </a:r>
            <a:endParaRPr lang="en-US" sz="21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System Architecture</a:t>
            </a:r>
            <a:endParaRPr lang="en-US" sz="3400" dirty="0"/>
          </a:p>
        </p:txBody>
      </p:sp>
      <p:sp>
        <p:nvSpPr>
          <p:cNvPr id="4" name="Shape 1"/>
          <p:cNvSpPr/>
          <p:nvPr/>
        </p:nvSpPr>
        <p:spPr>
          <a:xfrm>
            <a:off x="548640" y="2103120"/>
            <a:ext cx="2286000" cy="1737360"/>
          </a:xfrm>
          <a:prstGeom prst="rect">
            <a:avLst/>
          </a:prstGeom>
          <a:solidFill>
            <a:schemeClr val="bg2"/>
          </a:solidFill>
          <a:ln w="15875">
            <a:solidFill>
              <a:schemeClr val="tx2"/>
            </a:solidFill>
            <a:prstDash val="solid"/>
          </a:ln>
        </p:spPr>
      </p:sp>
      <p:sp>
        <p:nvSpPr>
          <p:cNvPr id="5" name="Text 2"/>
          <p:cNvSpPr txBox="1"/>
          <p:nvPr/>
        </p:nvSpPr>
        <p:spPr>
          <a:xfrm>
            <a:off x="548640" y="2103120"/>
            <a:ext cx="2286000" cy="1737360"/>
          </a:xfrm>
          <a:prstGeom prst="rect">
            <a:avLst/>
          </a:prstGeom>
          <a:noFill/>
          <a:ln/>
        </p:spPr>
        <p:txBody>
          <a:bodyPr wrap="square" lIns="0" tIns="0" rIns="0" bIns="0" rtlCol="0" anchor="ctr"/>
          <a:lstStyle/>
          <a:p>
            <a:pPr algn="ctr" indent="0" marL="0">
              <a:buNone/>
            </a:pPr>
            <a:r>
              <a:rPr lang="en-US" sz="1500" b="1" dirty="0">
                <a:solidFill>
                  <a:schemeClr val="tx1"/>
                </a:solidFill>
              </a:rPr>
              <a:t>React + TypeScript</a:t>
            </a:r>
            <a:endParaRPr lang="en-US" sz="1500" dirty="0"/>
          </a:p>
          <a:p>
            <a:pPr algn="ctr" indent="0" marL="0">
              <a:buNone/>
            </a:pPr>
            <a:r>
              <a:rPr lang="en-US" sz="1500" dirty="0">
                <a:solidFill>
                  <a:schemeClr val="tx1"/>
                </a:solidFill>
              </a:rPr>
              <a:t>Student portal</a:t>
            </a:r>
            <a:endParaRPr lang="en-US" sz="1500" dirty="0"/>
          </a:p>
          <a:p>
            <a:pPr algn="ctr" indent="0" marL="0">
              <a:buNone/>
            </a:pPr>
            <a:r>
              <a:rPr lang="en-US" sz="1500" dirty="0">
                <a:solidFill>
                  <a:schemeClr val="tx1"/>
                </a:solidFill>
              </a:rPr>
              <a:t>Admin portal</a:t>
            </a:r>
            <a:endParaRPr lang="en-US" sz="1500" dirty="0"/>
          </a:p>
        </p:txBody>
      </p:sp>
      <p:sp>
        <p:nvSpPr>
          <p:cNvPr id="6" name="Shape 3"/>
          <p:cNvSpPr/>
          <p:nvPr/>
        </p:nvSpPr>
        <p:spPr>
          <a:xfrm>
            <a:off x="3749040" y="1554480"/>
            <a:ext cx="3291840" cy="2011680"/>
          </a:xfrm>
          <a:prstGeom prst="rect">
            <a:avLst/>
          </a:prstGeom>
          <a:solidFill>
            <a:schemeClr val="bg2"/>
          </a:solidFill>
          <a:ln w="15875">
            <a:solidFill>
              <a:schemeClr val="tx2"/>
            </a:solidFill>
            <a:prstDash val="solid"/>
          </a:ln>
        </p:spPr>
      </p:sp>
      <p:sp>
        <p:nvSpPr>
          <p:cNvPr id="7" name="Text 4"/>
          <p:cNvSpPr txBox="1"/>
          <p:nvPr/>
        </p:nvSpPr>
        <p:spPr>
          <a:xfrm>
            <a:off x="3749040" y="1554480"/>
            <a:ext cx="3291840" cy="2011680"/>
          </a:xfrm>
          <a:prstGeom prst="rect">
            <a:avLst/>
          </a:prstGeom>
          <a:noFill/>
          <a:ln/>
        </p:spPr>
        <p:txBody>
          <a:bodyPr wrap="square" lIns="0" tIns="0" rIns="0" bIns="0" rtlCol="0" anchor="ctr"/>
          <a:lstStyle/>
          <a:p>
            <a:pPr algn="ctr" indent="0" marL="0">
              <a:buNone/>
            </a:pPr>
            <a:r>
              <a:rPr lang="en-US" sz="1500" b="1" dirty="0">
                <a:solidFill>
                  <a:schemeClr val="tx1"/>
                </a:solidFill>
              </a:rPr>
              <a:t>API Gateway</a:t>
            </a:r>
            <a:endParaRPr lang="en-US" sz="1500" dirty="0"/>
          </a:p>
          <a:p>
            <a:pPr algn="ctr" indent="0" marL="0">
              <a:buNone/>
            </a:pPr>
            <a:r>
              <a:rPr lang="en-US" sz="1500" dirty="0">
                <a:solidFill>
                  <a:schemeClr val="tx1"/>
                </a:solidFill>
              </a:rPr>
              <a:t>Spring Boot 3.3 (Java 21)</a:t>
            </a:r>
            <a:endParaRPr lang="en-US" sz="1500" dirty="0"/>
          </a:p>
          <a:p>
            <a:pPr algn="ctr" indent="0" marL="0">
              <a:buNone/>
            </a:pPr>
            <a:r>
              <a:rPr lang="en-US" sz="1500" dirty="0">
                <a:solidFill>
                  <a:schemeClr val="tx1"/>
                </a:solidFill>
              </a:rPr>
              <a:t>Auth, Catalog, Circulation,</a:t>
            </a:r>
            <a:endParaRPr lang="en-US" sz="1500" dirty="0"/>
          </a:p>
          <a:p>
            <a:pPr algn="ctr" indent="0" marL="0">
              <a:buNone/>
            </a:pPr>
            <a:r>
              <a:rPr lang="en-US" sz="1500" dirty="0">
                <a:solidFill>
                  <a:schemeClr val="tx1"/>
                </a:solidFill>
              </a:rPr>
              <a:t>Operations, Papers, Registry</a:t>
            </a:r>
            <a:endParaRPr lang="en-US" sz="1500" dirty="0"/>
          </a:p>
        </p:txBody>
      </p:sp>
      <p:sp>
        <p:nvSpPr>
          <p:cNvPr id="8" name="Shape 5"/>
          <p:cNvSpPr/>
          <p:nvPr/>
        </p:nvSpPr>
        <p:spPr>
          <a:xfrm>
            <a:off x="8138160" y="1554480"/>
            <a:ext cx="3474720" cy="1371600"/>
          </a:xfrm>
          <a:prstGeom prst="rect">
            <a:avLst/>
          </a:prstGeom>
          <a:solidFill>
            <a:schemeClr val="bg2"/>
          </a:solidFill>
          <a:ln w="15875">
            <a:solidFill>
              <a:schemeClr val="tx2"/>
            </a:solidFill>
            <a:prstDash val="solid"/>
          </a:ln>
        </p:spPr>
      </p:sp>
      <p:sp>
        <p:nvSpPr>
          <p:cNvPr id="9" name="Text 6"/>
          <p:cNvSpPr txBox="1"/>
          <p:nvPr/>
        </p:nvSpPr>
        <p:spPr>
          <a:xfrm>
            <a:off x="8138160" y="1554480"/>
            <a:ext cx="3474720" cy="1371600"/>
          </a:xfrm>
          <a:prstGeom prst="rect">
            <a:avLst/>
          </a:prstGeom>
          <a:noFill/>
          <a:ln/>
        </p:spPr>
        <p:txBody>
          <a:bodyPr wrap="square" lIns="0" tIns="0" rIns="0" bIns="0" rtlCol="0" anchor="ctr"/>
          <a:lstStyle/>
          <a:p>
            <a:pPr algn="ctr" indent="0" marL="0">
              <a:buNone/>
            </a:pPr>
            <a:r>
              <a:rPr lang="en-US" sz="1500" b="1" dirty="0">
                <a:solidFill>
                  <a:schemeClr val="tx1"/>
                </a:solidFill>
              </a:rPr>
              <a:t>AI Service</a:t>
            </a:r>
            <a:endParaRPr lang="en-US" sz="1500" dirty="0"/>
          </a:p>
          <a:p>
            <a:pPr algn="ctr" indent="0" marL="0">
              <a:buNone/>
            </a:pPr>
            <a:r>
              <a:rPr lang="en-US" sz="1500" dirty="0">
                <a:solidFill>
                  <a:schemeClr val="tx1"/>
                </a:solidFill>
              </a:rPr>
              <a:t>Python Flask (port 5000)</a:t>
            </a:r>
            <a:endParaRPr lang="en-US" sz="1500" dirty="0"/>
          </a:p>
        </p:txBody>
      </p:sp>
      <p:sp>
        <p:nvSpPr>
          <p:cNvPr id="10" name="Shape 7"/>
          <p:cNvSpPr/>
          <p:nvPr/>
        </p:nvSpPr>
        <p:spPr>
          <a:xfrm>
            <a:off x="8138160" y="3657600"/>
            <a:ext cx="3474720" cy="914400"/>
          </a:xfrm>
          <a:prstGeom prst="rect">
            <a:avLst/>
          </a:prstGeom>
          <a:solidFill>
            <a:schemeClr val="accent5"/>
          </a:solidFill>
          <a:ln w="15875">
            <a:solidFill>
              <a:schemeClr val="tx2"/>
            </a:solidFill>
            <a:prstDash val="solid"/>
          </a:ln>
        </p:spPr>
      </p:sp>
      <p:sp>
        <p:nvSpPr>
          <p:cNvPr id="11" name="Text 8"/>
          <p:cNvSpPr txBox="1"/>
          <p:nvPr/>
        </p:nvSpPr>
        <p:spPr>
          <a:xfrm>
            <a:off x="8138160" y="3657600"/>
            <a:ext cx="3474720" cy="914400"/>
          </a:xfrm>
          <a:prstGeom prst="rect">
            <a:avLst/>
          </a:prstGeom>
          <a:noFill/>
          <a:ln/>
        </p:spPr>
        <p:txBody>
          <a:bodyPr wrap="square" lIns="0" tIns="0" rIns="0" bIns="0" rtlCol="0" anchor="ctr"/>
          <a:lstStyle/>
          <a:p>
            <a:pPr algn="ctr" indent="0" marL="0">
              <a:buNone/>
            </a:pPr>
            <a:r>
              <a:rPr lang="en-US" sz="1500" dirty="0">
                <a:solidFill>
                  <a:schemeClr val="bg1"/>
                </a:solidFill>
              </a:rPr>
              <a:t>Google Gemini API</a:t>
            </a:r>
            <a:endParaRPr lang="en-US" sz="1500" dirty="0"/>
          </a:p>
        </p:txBody>
      </p:sp>
      <p:sp>
        <p:nvSpPr>
          <p:cNvPr id="12" name="Shape 9"/>
          <p:cNvSpPr/>
          <p:nvPr/>
        </p:nvSpPr>
        <p:spPr>
          <a:xfrm>
            <a:off x="3749040" y="4389120"/>
            <a:ext cx="3291840" cy="914400"/>
          </a:xfrm>
          <a:prstGeom prst="rect">
            <a:avLst/>
          </a:prstGeom>
          <a:solidFill>
            <a:schemeClr val="bg2"/>
          </a:solidFill>
          <a:ln w="15875">
            <a:solidFill>
              <a:schemeClr val="tx2"/>
            </a:solidFill>
            <a:prstDash val="solid"/>
          </a:ln>
        </p:spPr>
      </p:sp>
      <p:sp>
        <p:nvSpPr>
          <p:cNvPr id="13" name="Text 10"/>
          <p:cNvSpPr txBox="1"/>
          <p:nvPr/>
        </p:nvSpPr>
        <p:spPr>
          <a:xfrm>
            <a:off x="3749040" y="4389120"/>
            <a:ext cx="3291840" cy="914400"/>
          </a:xfrm>
          <a:prstGeom prst="rect">
            <a:avLst/>
          </a:prstGeom>
          <a:noFill/>
          <a:ln/>
        </p:spPr>
        <p:txBody>
          <a:bodyPr wrap="square" lIns="0" tIns="0" rIns="0" bIns="0" rtlCol="0" anchor="ctr"/>
          <a:lstStyle/>
          <a:p>
            <a:pPr algn="ctr" indent="0" marL="0">
              <a:buNone/>
            </a:pPr>
            <a:r>
              <a:rPr lang="en-US" sz="1500" b="1" dirty="0">
                <a:solidFill>
                  <a:schemeClr val="tx1"/>
                </a:solidFill>
              </a:rPr>
              <a:t>SQLite database</a:t>
            </a:r>
            <a:endParaRPr lang="en-US" sz="1500" dirty="0"/>
          </a:p>
          <a:p>
            <a:pPr algn="ctr" indent="0" marL="0">
              <a:buNone/>
            </a:pPr>
            <a:r>
              <a:rPr lang="en-US" sz="1500" dirty="0">
                <a:solidFill>
                  <a:schemeClr val="tx1"/>
                </a:solidFill>
              </a:rPr>
              <a:t>books, users, transactions</a:t>
            </a:r>
            <a:endParaRPr lang="en-US" sz="1500" dirty="0"/>
          </a:p>
        </p:txBody>
      </p:sp>
      <p:sp>
        <p:nvSpPr>
          <p:cNvPr id="14" name="Shape 11"/>
          <p:cNvSpPr/>
          <p:nvPr/>
        </p:nvSpPr>
        <p:spPr>
          <a:xfrm>
            <a:off x="2834640" y="2926080"/>
            <a:ext cx="914400" cy="0"/>
          </a:xfrm>
          <a:prstGeom prst="line">
            <a:avLst/>
          </a:prstGeom>
          <a:noFill/>
          <a:ln w="25400">
            <a:solidFill>
              <a:schemeClr val="tx1"/>
            </a:solidFill>
            <a:prstDash val="solid"/>
            <a:tailEnd type="triangle"/>
          </a:ln>
        </p:spPr>
      </p:sp>
      <p:sp>
        <p:nvSpPr>
          <p:cNvPr id="15" name="Shape 12"/>
          <p:cNvSpPr/>
          <p:nvPr/>
        </p:nvSpPr>
        <p:spPr>
          <a:xfrm>
            <a:off x="7040880" y="2240280"/>
            <a:ext cx="1097280" cy="0"/>
          </a:xfrm>
          <a:prstGeom prst="line">
            <a:avLst/>
          </a:prstGeom>
          <a:noFill/>
          <a:ln w="25400">
            <a:solidFill>
              <a:schemeClr val="tx1"/>
            </a:solidFill>
            <a:prstDash val="solid"/>
            <a:tailEnd type="triangle"/>
          </a:ln>
        </p:spPr>
      </p:sp>
      <p:sp>
        <p:nvSpPr>
          <p:cNvPr id="16" name="Shape 13"/>
          <p:cNvSpPr/>
          <p:nvPr/>
        </p:nvSpPr>
        <p:spPr>
          <a:xfrm>
            <a:off x="9875520" y="2926080"/>
            <a:ext cx="0" cy="731520"/>
          </a:xfrm>
          <a:prstGeom prst="line">
            <a:avLst/>
          </a:prstGeom>
          <a:noFill/>
          <a:ln w="25400">
            <a:solidFill>
              <a:schemeClr val="tx1"/>
            </a:solidFill>
            <a:prstDash val="solid"/>
            <a:tailEnd type="triangle"/>
          </a:ln>
        </p:spPr>
      </p:sp>
      <p:sp>
        <p:nvSpPr>
          <p:cNvPr id="17" name="Shape 14"/>
          <p:cNvSpPr/>
          <p:nvPr/>
        </p:nvSpPr>
        <p:spPr>
          <a:xfrm>
            <a:off x="5394960" y="3566160"/>
            <a:ext cx="0" cy="822960"/>
          </a:xfrm>
          <a:prstGeom prst="line">
            <a:avLst/>
          </a:prstGeom>
          <a:noFill/>
          <a:ln w="25400">
            <a:solidFill>
              <a:schemeClr val="tx1"/>
            </a:solidFill>
            <a:prstDash val="solid"/>
            <a:tailEnd type="triangle"/>
          </a:ln>
        </p:spPr>
      </p:sp>
      <p:sp>
        <p:nvSpPr>
          <p:cNvPr id="18" name="Text 15"/>
          <p:cNvSpPr txBox="1"/>
          <p:nvPr/>
        </p:nvSpPr>
        <p:spPr>
          <a:xfrm>
            <a:off x="548640" y="5669280"/>
            <a:ext cx="11064240" cy="548640"/>
          </a:xfrm>
          <a:prstGeom prst="rect">
            <a:avLst/>
          </a:prstGeom>
          <a:noFill/>
          <a:ln/>
        </p:spPr>
        <p:txBody>
          <a:bodyPr wrap="square" lIns="0" tIns="0" rIns="0" bIns="0" rtlCol="0" anchor="ctr"/>
          <a:lstStyle/>
          <a:p>
            <a:pPr indent="0" marL="0">
              <a:buNone/>
            </a:pPr>
            <a:r>
              <a:rPr lang="en-US" sz="1600" i="1" dirty="0">
                <a:solidFill>
                  <a:schemeClr val="tx1"/>
                </a:solidFill>
              </a:rPr>
              <a:t>The Node/Express version of the backend is split into 6 services (ports 4001 to 4006), each with a /health endpoint and a service registry.</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Methodology</a:t>
            </a:r>
            <a:endParaRPr lang="en-US" sz="3400" dirty="0"/>
          </a:p>
        </p:txBody>
      </p:sp>
      <p:sp>
        <p:nvSpPr>
          <p:cNvPr id="4" name="Shape 1"/>
          <p:cNvSpPr/>
          <p:nvPr/>
        </p:nvSpPr>
        <p:spPr>
          <a:xfrm>
            <a:off x="548640" y="1463040"/>
            <a:ext cx="2203704" cy="914400"/>
          </a:xfrm>
          <a:prstGeom prst="chevron">
            <a:avLst/>
          </a:prstGeom>
          <a:solidFill>
            <a:schemeClr val="accent1"/>
          </a:solidFill>
          <a:ln w="12700">
            <a:solidFill>
              <a:schemeClr val="bg1"/>
            </a:solidFill>
            <a:prstDash val="solid"/>
          </a:ln>
        </p:spPr>
      </p:sp>
      <p:sp>
        <p:nvSpPr>
          <p:cNvPr id="5" name="Text 2"/>
          <p:cNvSpPr txBox="1"/>
          <p:nvPr/>
        </p:nvSpPr>
        <p:spPr>
          <a:xfrm>
            <a:off x="960120" y="1463040"/>
            <a:ext cx="1371600" cy="914400"/>
          </a:xfrm>
          <a:prstGeom prst="rect">
            <a:avLst/>
          </a:prstGeom>
          <a:noFill/>
          <a:ln/>
        </p:spPr>
        <p:txBody>
          <a:bodyPr wrap="square" lIns="0" tIns="0" rIns="0" bIns="0" rtlCol="0" anchor="ctr"/>
          <a:lstStyle/>
          <a:p>
            <a:pPr algn="ctr" indent="0" marL="0">
              <a:buNone/>
            </a:pPr>
            <a:r>
              <a:rPr lang="en-US" sz="1400" b="1" dirty="0">
                <a:solidFill>
                  <a:schemeClr val="bg1"/>
                </a:solidFill>
              </a:rPr>
              <a:t>Requirement</a:t>
            </a:r>
            <a:endParaRPr lang="en-US" sz="1400" dirty="0"/>
          </a:p>
          <a:p>
            <a:pPr algn="ctr" indent="0" marL="0">
              <a:buNone/>
            </a:pPr>
            <a:r>
              <a:rPr lang="en-US" sz="1400" b="1" dirty="0">
                <a:solidFill>
                  <a:schemeClr val="bg1"/>
                </a:solidFill>
              </a:rPr>
              <a:t>Analysis</a:t>
            </a:r>
            <a:endParaRPr lang="en-US" sz="1400" dirty="0"/>
          </a:p>
        </p:txBody>
      </p:sp>
      <p:sp>
        <p:nvSpPr>
          <p:cNvPr id="6" name="Shape 3"/>
          <p:cNvSpPr/>
          <p:nvPr/>
        </p:nvSpPr>
        <p:spPr>
          <a:xfrm>
            <a:off x="2770632" y="1463040"/>
            <a:ext cx="2203704" cy="914400"/>
          </a:xfrm>
          <a:prstGeom prst="chevron">
            <a:avLst/>
          </a:prstGeom>
          <a:solidFill>
            <a:schemeClr val="accent2"/>
          </a:solidFill>
          <a:ln w="12700">
            <a:solidFill>
              <a:schemeClr val="bg1"/>
            </a:solidFill>
            <a:prstDash val="solid"/>
          </a:ln>
        </p:spPr>
      </p:sp>
      <p:sp>
        <p:nvSpPr>
          <p:cNvPr id="7" name="Text 4"/>
          <p:cNvSpPr txBox="1"/>
          <p:nvPr/>
        </p:nvSpPr>
        <p:spPr>
          <a:xfrm>
            <a:off x="3182112" y="1463040"/>
            <a:ext cx="1371600" cy="914400"/>
          </a:xfrm>
          <a:prstGeom prst="rect">
            <a:avLst/>
          </a:prstGeom>
          <a:noFill/>
          <a:ln/>
        </p:spPr>
        <p:txBody>
          <a:bodyPr wrap="square" lIns="0" tIns="0" rIns="0" bIns="0" rtlCol="0" anchor="ctr"/>
          <a:lstStyle/>
          <a:p>
            <a:pPr algn="ctr" indent="0" marL="0">
              <a:buNone/>
            </a:pPr>
            <a:r>
              <a:rPr lang="en-US" sz="1400" b="1" dirty="0">
                <a:solidFill>
                  <a:schemeClr val="bg1"/>
                </a:solidFill>
              </a:rPr>
              <a:t>SOA</a:t>
            </a:r>
            <a:endParaRPr lang="en-US" sz="1400" dirty="0"/>
          </a:p>
          <a:p>
            <a:pPr algn="ctr" indent="0" marL="0">
              <a:buNone/>
            </a:pPr>
            <a:r>
              <a:rPr lang="en-US" sz="1400" b="1" dirty="0">
                <a:solidFill>
                  <a:schemeClr val="bg1"/>
                </a:solidFill>
              </a:rPr>
              <a:t>Design</a:t>
            </a:r>
            <a:endParaRPr lang="en-US" sz="1400" dirty="0"/>
          </a:p>
        </p:txBody>
      </p:sp>
      <p:sp>
        <p:nvSpPr>
          <p:cNvPr id="8" name="Shape 5"/>
          <p:cNvSpPr/>
          <p:nvPr/>
        </p:nvSpPr>
        <p:spPr>
          <a:xfrm>
            <a:off x="4992624" y="1463040"/>
            <a:ext cx="2203704" cy="914400"/>
          </a:xfrm>
          <a:prstGeom prst="chevron">
            <a:avLst/>
          </a:prstGeom>
          <a:solidFill>
            <a:schemeClr val="accent1"/>
          </a:solidFill>
          <a:ln w="12700">
            <a:solidFill>
              <a:schemeClr val="bg1"/>
            </a:solidFill>
            <a:prstDash val="solid"/>
          </a:ln>
        </p:spPr>
      </p:sp>
      <p:sp>
        <p:nvSpPr>
          <p:cNvPr id="9" name="Text 6"/>
          <p:cNvSpPr txBox="1"/>
          <p:nvPr/>
        </p:nvSpPr>
        <p:spPr>
          <a:xfrm>
            <a:off x="5404104" y="1463040"/>
            <a:ext cx="1371600" cy="914400"/>
          </a:xfrm>
          <a:prstGeom prst="rect">
            <a:avLst/>
          </a:prstGeom>
          <a:noFill/>
          <a:ln/>
        </p:spPr>
        <p:txBody>
          <a:bodyPr wrap="square" lIns="0" tIns="0" rIns="0" bIns="0" rtlCol="0" anchor="ctr"/>
          <a:lstStyle/>
          <a:p>
            <a:pPr algn="ctr" indent="0" marL="0">
              <a:buNone/>
            </a:pPr>
            <a:r>
              <a:rPr lang="en-US" sz="1400" b="1" dirty="0">
                <a:solidFill>
                  <a:schemeClr val="bg1"/>
                </a:solidFill>
              </a:rPr>
              <a:t>Service</a:t>
            </a:r>
            <a:endParaRPr lang="en-US" sz="1400" dirty="0"/>
          </a:p>
          <a:p>
            <a:pPr algn="ctr" indent="0" marL="0">
              <a:buNone/>
            </a:pPr>
            <a:r>
              <a:rPr lang="en-US" sz="1400" b="1" dirty="0">
                <a:solidFill>
                  <a:schemeClr val="bg1"/>
                </a:solidFill>
              </a:rPr>
              <a:t>Implementation</a:t>
            </a:r>
            <a:endParaRPr lang="en-US" sz="1400" dirty="0"/>
          </a:p>
        </p:txBody>
      </p:sp>
      <p:sp>
        <p:nvSpPr>
          <p:cNvPr id="10" name="Shape 7"/>
          <p:cNvSpPr/>
          <p:nvPr/>
        </p:nvSpPr>
        <p:spPr>
          <a:xfrm>
            <a:off x="7214616" y="1463040"/>
            <a:ext cx="2203704" cy="914400"/>
          </a:xfrm>
          <a:prstGeom prst="chevron">
            <a:avLst/>
          </a:prstGeom>
          <a:solidFill>
            <a:schemeClr val="accent2"/>
          </a:solidFill>
          <a:ln w="12700">
            <a:solidFill>
              <a:schemeClr val="bg1"/>
            </a:solidFill>
            <a:prstDash val="solid"/>
          </a:ln>
        </p:spPr>
      </p:sp>
      <p:sp>
        <p:nvSpPr>
          <p:cNvPr id="11" name="Text 8"/>
          <p:cNvSpPr txBox="1"/>
          <p:nvPr/>
        </p:nvSpPr>
        <p:spPr>
          <a:xfrm>
            <a:off x="7626096" y="1463040"/>
            <a:ext cx="1371600" cy="914400"/>
          </a:xfrm>
          <a:prstGeom prst="rect">
            <a:avLst/>
          </a:prstGeom>
          <a:noFill/>
          <a:ln/>
        </p:spPr>
        <p:txBody>
          <a:bodyPr wrap="square" lIns="0" tIns="0" rIns="0" bIns="0" rtlCol="0" anchor="ctr"/>
          <a:lstStyle/>
          <a:p>
            <a:pPr algn="ctr" indent="0" marL="0">
              <a:buNone/>
            </a:pPr>
            <a:r>
              <a:rPr lang="en-US" sz="1400" b="1" dirty="0">
                <a:solidFill>
                  <a:schemeClr val="bg1"/>
                </a:solidFill>
              </a:rPr>
              <a:t>AI</a:t>
            </a:r>
            <a:endParaRPr lang="en-US" sz="1400" dirty="0"/>
          </a:p>
          <a:p>
            <a:pPr algn="ctr" indent="0" marL="0">
              <a:buNone/>
            </a:pPr>
            <a:r>
              <a:rPr lang="en-US" sz="1400" b="1" dirty="0">
                <a:solidFill>
                  <a:schemeClr val="bg1"/>
                </a:solidFill>
              </a:rPr>
              <a:t>Integration</a:t>
            </a:r>
            <a:endParaRPr lang="en-US" sz="1400" dirty="0"/>
          </a:p>
        </p:txBody>
      </p:sp>
      <p:sp>
        <p:nvSpPr>
          <p:cNvPr id="12" name="Shape 9"/>
          <p:cNvSpPr/>
          <p:nvPr/>
        </p:nvSpPr>
        <p:spPr>
          <a:xfrm>
            <a:off x="9436608" y="1463040"/>
            <a:ext cx="2203704" cy="914400"/>
          </a:xfrm>
          <a:prstGeom prst="chevron">
            <a:avLst/>
          </a:prstGeom>
          <a:solidFill>
            <a:schemeClr val="accent1"/>
          </a:solidFill>
          <a:ln w="12700">
            <a:solidFill>
              <a:schemeClr val="bg1"/>
            </a:solidFill>
            <a:prstDash val="solid"/>
          </a:ln>
        </p:spPr>
      </p:sp>
      <p:sp>
        <p:nvSpPr>
          <p:cNvPr id="13" name="Text 10"/>
          <p:cNvSpPr txBox="1"/>
          <p:nvPr/>
        </p:nvSpPr>
        <p:spPr>
          <a:xfrm>
            <a:off x="9848088" y="1463040"/>
            <a:ext cx="1371600" cy="914400"/>
          </a:xfrm>
          <a:prstGeom prst="rect">
            <a:avLst/>
          </a:prstGeom>
          <a:noFill/>
          <a:ln/>
        </p:spPr>
        <p:txBody>
          <a:bodyPr wrap="square" lIns="0" tIns="0" rIns="0" bIns="0" rtlCol="0" anchor="ctr"/>
          <a:lstStyle/>
          <a:p>
            <a:pPr algn="ctr" indent="0" marL="0">
              <a:buNone/>
            </a:pPr>
            <a:r>
              <a:rPr lang="en-US" sz="1400" b="1" dirty="0">
                <a:solidFill>
                  <a:schemeClr val="bg1"/>
                </a:solidFill>
              </a:rPr>
              <a:t>Testing</a:t>
            </a:r>
            <a:endParaRPr lang="en-US" sz="1400" dirty="0"/>
          </a:p>
        </p:txBody>
      </p:sp>
      <p:sp>
        <p:nvSpPr>
          <p:cNvPr id="14" name="Text 11"/>
          <p:cNvSpPr txBox="1"/>
          <p:nvPr/>
        </p:nvSpPr>
        <p:spPr>
          <a:xfrm>
            <a:off x="548640" y="2743200"/>
            <a:ext cx="10972800" cy="365760"/>
          </a:xfrm>
          <a:prstGeom prst="rect">
            <a:avLst/>
          </a:prstGeom>
          <a:noFill/>
          <a:ln/>
        </p:spPr>
        <p:txBody>
          <a:bodyPr wrap="square" lIns="0" tIns="0" rIns="0" bIns="0" rtlCol="0" anchor="ctr"/>
          <a:lstStyle/>
          <a:p>
            <a:pPr indent="0" marL="0">
              <a:buNone/>
            </a:pPr>
            <a:r>
              <a:rPr lang="en-US" sz="2000" b="1" dirty="0">
                <a:solidFill>
                  <a:schemeClr val="tx2"/>
                </a:solidFill>
              </a:rPr>
              <a:t>How one chatbot question is processed</a:t>
            </a:r>
            <a:endParaRPr lang="en-US" sz="2000" dirty="0"/>
          </a:p>
        </p:txBody>
      </p:sp>
      <p:sp>
        <p:nvSpPr>
          <p:cNvPr id="15" name="Bullets"/>
          <p:cNvSpPr txBox="1"/>
          <p:nvPr/>
        </p:nvSpPr>
        <p:spPr>
          <a:xfrm>
            <a:off x="822960" y="3200400"/>
            <a:ext cx="10515600" cy="30175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800" dirty="0">
                <a:solidFill>
                  <a:schemeClr val="tx1"/>
                </a:solidFill>
              </a:rPr>
              <a:t>Student types a question in the AI Assistant page.</a:t>
            </a:r>
            <a:endParaRPr lang="en-US" sz="1800" dirty="0"/>
          </a:p>
          <a:p>
            <a:pPr marL="342900" indent="-342900">
              <a:spcAft>
                <a:spcPts val="600"/>
              </a:spcAft>
              <a:buSzPct val="100000"/>
              <a:buFont typeface="+mj-lt"/>
              <a:buAutoNum type="arabicPeriod" startAt="1"/>
            </a:pPr>
            <a:r>
              <a:rPr lang="en-US" sz="1800" dirty="0">
                <a:solidFill>
                  <a:schemeClr val="tx1"/>
                </a:solidFill>
              </a:rPr>
              <a:t>Spring Boot gateway forwards it to the Python AI service.</a:t>
            </a:r>
            <a:endParaRPr lang="en-US" sz="1800" dirty="0"/>
          </a:p>
          <a:p>
            <a:pPr marL="342900" indent="-342900">
              <a:spcAft>
                <a:spcPts val="600"/>
              </a:spcAft>
              <a:buSzPct val="100000"/>
              <a:buFont typeface="+mj-lt"/>
              <a:buAutoNum type="arabicPeriod" startAt="1"/>
            </a:pPr>
            <a:r>
              <a:rPr lang="en-US" sz="1800" dirty="0">
                <a:solidFill>
                  <a:schemeClr val="tx1"/>
                </a:solidFill>
              </a:rPr>
              <a:t>The AI service reads the current book list from the SQLite database.</a:t>
            </a:r>
            <a:endParaRPr lang="en-US" sz="1800" dirty="0"/>
          </a:p>
          <a:p>
            <a:pPr marL="342900" indent="-342900">
              <a:spcAft>
                <a:spcPts val="600"/>
              </a:spcAft>
              <a:buSzPct val="100000"/>
              <a:buFont typeface="+mj-lt"/>
              <a:buAutoNum type="arabicPeriod" startAt="1"/>
            </a:pPr>
            <a:r>
              <a:rPr lang="en-US" sz="1800" dirty="0">
                <a:solidFill>
                  <a:schemeClr val="tx1"/>
                </a:solidFill>
              </a:rPr>
              <a:t>Question and book list are sent to Gemini as one prompt.</a:t>
            </a:r>
            <a:endParaRPr lang="en-US" sz="1800" dirty="0"/>
          </a:p>
          <a:p>
            <a:pPr marL="342900" indent="-342900">
              <a:spcAft>
                <a:spcPts val="600"/>
              </a:spcAft>
              <a:buSzPct val="100000"/>
              <a:buFont typeface="+mj-lt"/>
              <a:buAutoNum type="arabicPeriod" startAt="1"/>
            </a:pPr>
            <a:r>
              <a:rPr lang="en-US" sz="1800" dirty="0">
                <a:solidFill>
                  <a:schemeClr val="tx1"/>
                </a:solidFill>
              </a:rPr>
              <a:t>The answer comes back with title, shelf and available copies.</a:t>
            </a:r>
            <a:endParaRPr lang="en-US" sz="1800" dirty="0"/>
          </a:p>
          <a:p>
            <a:pPr marL="342900" indent="-342900">
              <a:spcAft>
                <a:spcPts val="600"/>
              </a:spcAft>
              <a:buSzPct val="100000"/>
              <a:buFont typeface="+mj-lt"/>
              <a:buAutoNum type="arabicPeriod" startAt="1"/>
            </a:pPr>
            <a:r>
              <a:rPr lang="en-US" sz="1800" dirty="0">
                <a:solidFill>
                  <a:schemeClr val="tx1"/>
                </a:solidFill>
              </a:rPr>
              <a:t>If Gemini is not reachable, the service replies from the catalog directly.</a:t>
            </a:r>
            <a:endParaRPr lang="en-US" sz="18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Technology Stack and Technical Competence</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743200"/>
                <a:gridCol w="8348472"/>
              </a:tblGrid>
              <a:tr h="566928">
                <a:tc>
                  <a:txBody>
                    <a:bodyPr/>
                    <a:lstStyle/>
                    <a:p>
                      <a:pPr indent="0" marL="0">
                        <a:buNone/>
                      </a:pPr>
                      <a:r>
                        <a:rPr lang="en-US" sz="1800" b="1" dirty="0">
                          <a:solidFill>
                            <a:schemeClr val="bg1"/>
                          </a:solidFill>
                        </a:rPr>
                        <a:t>Layer</a:t>
                      </a:r>
                      <a:endParaRPr lang="en-US" sz="18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accent2"/>
                    </a:solidFill>
                  </a:tcPr>
                </a:tc>
                <a:tc>
                  <a:txBody>
                    <a:bodyPr/>
                    <a:lstStyle/>
                    <a:p>
                      <a:pPr indent="0" marL="0">
                        <a:buNone/>
                      </a:pPr>
                      <a:r>
                        <a:rPr lang="en-US" sz="1800" b="1" dirty="0">
                          <a:solidFill>
                            <a:schemeClr val="bg1"/>
                          </a:solidFill>
                        </a:rPr>
                        <a:t>Technologies used</a:t>
                      </a:r>
                      <a:endParaRPr lang="en-US" sz="18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accent2"/>
                    </a:solidFill>
                  </a:tcPr>
                </a:tc>
              </a:tr>
              <a:tr h="566928">
                <a:tc>
                  <a:txBody>
                    <a:bodyPr/>
                    <a:lstStyle/>
                    <a:p>
                      <a:pPr indent="0" marL="0">
                        <a:buNone/>
                      </a:pPr>
                      <a:r>
                        <a:rPr lang="en-US" sz="1800" b="1" dirty="0">
                          <a:solidFill>
                            <a:schemeClr val="tx1"/>
                          </a:solidFill>
                        </a:rPr>
                        <a:t>Frontend</a:t>
                      </a:r>
                      <a:endParaRPr lang="en-US" sz="18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React 19, TypeScript, Vite, Tailwind CSS, Recharts, html5-qrcode</a:t>
                      </a:r>
                      <a:endParaRPr lang="en-US" sz="18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566928">
                <a:tc>
                  <a:txBody>
                    <a:bodyPr/>
                    <a:lstStyle/>
                    <a:p>
                      <a:pPr indent="0" marL="0">
                        <a:buNone/>
                      </a:pPr>
                      <a:r>
                        <a:rPr lang="en-US" sz="1800" b="1" dirty="0">
                          <a:solidFill>
                            <a:schemeClr val="tx1"/>
                          </a:solidFill>
                        </a:rPr>
                        <a:t>Gateway / Backend</a:t>
                      </a:r>
                      <a:endParaRPr lang="en-US" sz="18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Java 21, Spring Boot 3.3.4, Maven</a:t>
                      </a:r>
                      <a:endParaRPr lang="en-US" sz="18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r h="566928">
                <a:tc>
                  <a:txBody>
                    <a:bodyPr/>
                    <a:lstStyle/>
                    <a:p>
                      <a:pPr indent="0" marL="0">
                        <a:buNone/>
                      </a:pPr>
                      <a:r>
                        <a:rPr lang="en-US" sz="1800" b="1" dirty="0">
                          <a:solidFill>
                            <a:schemeClr val="tx1"/>
                          </a:solidFill>
                        </a:rPr>
                        <a:t>AI service</a:t>
                      </a:r>
                      <a:endParaRPr lang="en-US" sz="18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Python, Flask, Google Gemini API</a:t>
                      </a:r>
                      <a:endParaRPr lang="en-US" sz="18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566928">
                <a:tc>
                  <a:txBody>
                    <a:bodyPr/>
                    <a:lstStyle/>
                    <a:p>
                      <a:pPr indent="0" marL="0">
                        <a:buNone/>
                      </a:pPr>
                      <a:r>
                        <a:rPr lang="en-US" sz="1800" b="1" dirty="0">
                          <a:solidFill>
                            <a:schemeClr val="tx1"/>
                          </a:solidFill>
                        </a:rPr>
                        <a:t>Microservices</a:t>
                      </a:r>
                      <a:endParaRPr lang="en-US" sz="18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Node.js, Express, TypeScript</a:t>
                      </a:r>
                      <a:endParaRPr lang="en-US" sz="18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r h="566928">
                <a:tc>
                  <a:txBody>
                    <a:bodyPr/>
                    <a:lstStyle/>
                    <a:p>
                      <a:pPr indent="0" marL="0">
                        <a:buNone/>
                      </a:pPr>
                      <a:r>
                        <a:rPr lang="en-US" sz="1800" b="1" dirty="0">
                          <a:solidFill>
                            <a:schemeClr val="tx1"/>
                          </a:solidFill>
                        </a:rPr>
                        <a:t>Database</a:t>
                      </a:r>
                      <a:endParaRPr lang="en-US" sz="18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800" dirty="0">
                          <a:solidFill>
                            <a:schemeClr val="tx1"/>
                          </a:solidFill>
                        </a:rPr>
                        <a:t>SQLite (sqlite-jdbc)</a:t>
                      </a:r>
                      <a:endParaRPr lang="en-US" sz="18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566928">
                <a:tc>
                  <a:txBody>
                    <a:bodyPr/>
                    <a:lstStyle/>
                    <a:p>
                      <a:pPr indent="0" marL="0">
                        <a:buNone/>
                      </a:pPr>
                      <a:r>
                        <a:rPr lang="en-US" sz="1800" b="1" dirty="0">
                          <a:solidFill>
                            <a:schemeClr val="tx1"/>
                          </a:solidFill>
                        </a:rPr>
                        <a:t>Other</a:t>
                      </a:r>
                      <a:endParaRPr lang="en-US" sz="18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800" dirty="0">
                          <a:solidFill>
                            <a:schemeClr val="tx1"/>
                          </a:solidFill>
                        </a:rPr>
                        <a:t>Git and GitHub, REST APIs with JSON, PWA manifest</a:t>
                      </a:r>
                      <a:endParaRPr lang="en-US" sz="18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577840"/>
            <a:ext cx="11064240" cy="548640"/>
          </a:xfrm>
          <a:prstGeom prst="rect">
            <a:avLst/>
          </a:prstGeom>
          <a:noFill/>
          <a:ln/>
        </p:spPr>
        <p:txBody>
          <a:bodyPr wrap="square" lIns="0" tIns="0" rIns="0" bIns="0" rtlCol="0" anchor="ctr"/>
          <a:lstStyle/>
          <a:p>
            <a:pPr indent="0" marL="0">
              <a:buNone/>
            </a:pPr>
            <a:r>
              <a:rPr lang="en-US" sz="1800" dirty="0">
                <a:solidFill>
                  <a:schemeClr val="tx1"/>
                </a:solidFill>
              </a:rPr>
              <a:t>We worked with Java, Python and TypeScript in one project and connected them using REST APIs.</a:t>
            </a:r>
            <a:endParaRPr lang="en-US" sz="18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Modules Implemented</a:t>
            </a:r>
            <a:endParaRPr lang="en-US" sz="3400" dirty="0"/>
          </a:p>
        </p:txBody>
      </p:sp>
      <p:sp>
        <p:nvSpPr>
          <p:cNvPr id="3" name="Text 1"/>
          <p:cNvSpPr txBox="1"/>
          <p:nvPr/>
        </p:nvSpPr>
        <p:spPr>
          <a:xfrm>
            <a:off x="822960" y="1371600"/>
            <a:ext cx="5029200" cy="411480"/>
          </a:xfrm>
          <a:prstGeom prst="rect">
            <a:avLst/>
          </a:prstGeom>
          <a:noFill/>
          <a:ln/>
        </p:spPr>
        <p:txBody>
          <a:bodyPr wrap="square" lIns="0" tIns="0" rIns="0" bIns="0" rtlCol="0" anchor="ctr"/>
          <a:lstStyle/>
          <a:p>
            <a:pPr indent="0" marL="0">
              <a:buNone/>
            </a:pPr>
            <a:r>
              <a:rPr lang="en-US" sz="2200" b="1" dirty="0">
                <a:solidFill>
                  <a:schemeClr val="accent3"/>
                </a:solidFill>
              </a:rPr>
              <a:t>Student Portal</a:t>
            </a:r>
            <a:endParaRPr lang="en-US" sz="2200" dirty="0"/>
          </a:p>
        </p:txBody>
      </p:sp>
      <p:sp>
        <p:nvSpPr>
          <p:cNvPr id="4" name="Bullets"/>
          <p:cNvSpPr txBox="1"/>
          <p:nvPr/>
        </p:nvSpPr>
        <p:spPr>
          <a:xfrm>
            <a:off x="822960" y="1874520"/>
            <a:ext cx="4937760" cy="2926080"/>
          </a:xfrm>
          <a:prstGeom prst="rect">
            <a:avLst/>
          </a:prstGeom>
          <a:noFill/>
          <a:ln/>
        </p:spPr>
        <p:txBody>
          <a:bodyPr wrap="square" lIns="0" tIns="0" rIns="0" bIns="0" rtlCol="0" anchor="t"/>
          <a:lstStyle/>
          <a:p>
            <a:pPr marL="342900" indent="-342900">
              <a:spcAft>
                <a:spcPts val="500"/>
              </a:spcAft>
              <a:buSzPct val="100000"/>
              <a:buChar char="•"/>
            </a:pPr>
            <a:r>
              <a:rPr lang="en-US" sz="1900" dirty="0">
                <a:solidFill>
                  <a:schemeClr val="tx1"/>
                </a:solidFill>
              </a:rPr>
              <a:t>Dashboard</a:t>
            </a:r>
            <a:endParaRPr lang="en-US" sz="1900" dirty="0"/>
          </a:p>
          <a:p>
            <a:pPr marL="342900" indent="-342900">
              <a:spcAft>
                <a:spcPts val="500"/>
              </a:spcAft>
              <a:buSzPct val="100000"/>
              <a:buChar char="•"/>
            </a:pPr>
            <a:r>
              <a:rPr lang="en-US" sz="1900" dirty="0">
                <a:solidFill>
                  <a:schemeClr val="tx1"/>
                </a:solidFill>
              </a:rPr>
              <a:t>Search Books</a:t>
            </a:r>
            <a:endParaRPr lang="en-US" sz="1900" dirty="0"/>
          </a:p>
          <a:p>
            <a:pPr marL="342900" indent="-342900">
              <a:spcAft>
                <a:spcPts val="500"/>
              </a:spcAft>
              <a:buSzPct val="100000"/>
              <a:buChar char="•"/>
            </a:pPr>
            <a:r>
              <a:rPr lang="en-US" sz="1900" dirty="0">
                <a:solidFill>
                  <a:schemeClr val="tx1"/>
                </a:solidFill>
              </a:rPr>
              <a:t>Research Papers</a:t>
            </a:r>
            <a:endParaRPr lang="en-US" sz="1900" dirty="0"/>
          </a:p>
          <a:p>
            <a:pPr marL="342900" indent="-342900">
              <a:spcAft>
                <a:spcPts val="500"/>
              </a:spcAft>
              <a:buSzPct val="100000"/>
              <a:buChar char="•"/>
            </a:pPr>
            <a:r>
              <a:rPr lang="en-US" sz="1900" dirty="0">
                <a:solidFill>
                  <a:schemeClr val="tx1"/>
                </a:solidFill>
              </a:rPr>
              <a:t>Syllabus Matcher</a:t>
            </a:r>
            <a:endParaRPr lang="en-US" sz="1900" dirty="0"/>
          </a:p>
          <a:p>
            <a:pPr marL="342900" indent="-342900">
              <a:spcAft>
                <a:spcPts val="500"/>
              </a:spcAft>
              <a:buSzPct val="100000"/>
              <a:buChar char="•"/>
            </a:pPr>
            <a:r>
              <a:rPr lang="en-US" sz="1900" dirty="0">
                <a:solidFill>
                  <a:schemeClr val="tx1"/>
                </a:solidFill>
              </a:rPr>
              <a:t>AI Assistant</a:t>
            </a:r>
            <a:endParaRPr lang="en-US" sz="1900" dirty="0"/>
          </a:p>
          <a:p>
            <a:pPr marL="342900" indent="-342900">
              <a:spcAft>
                <a:spcPts val="500"/>
              </a:spcAft>
              <a:buSzPct val="100000"/>
              <a:buChar char="•"/>
            </a:pPr>
            <a:r>
              <a:rPr lang="en-US" sz="1900" dirty="0">
                <a:solidFill>
                  <a:schemeClr val="tx1"/>
                </a:solidFill>
              </a:rPr>
              <a:t>Events, My Books, Fines</a:t>
            </a:r>
            <a:endParaRPr lang="en-US" sz="1900" dirty="0"/>
          </a:p>
          <a:p>
            <a:pPr marL="342900" indent="-342900">
              <a:spcAft>
                <a:spcPts val="500"/>
              </a:spcAft>
              <a:buSzPct val="100000"/>
              <a:buChar char="•"/>
            </a:pPr>
            <a:r>
              <a:rPr lang="en-US" sz="1900" dirty="0">
                <a:solidFill>
                  <a:schemeClr val="tx1"/>
                </a:solidFill>
              </a:rPr>
              <a:t>History, Profile, Settings</a:t>
            </a:r>
            <a:endParaRPr lang="en-US" sz="1900" dirty="0"/>
          </a:p>
        </p:txBody>
      </p:sp>
      <p:sp>
        <p:nvSpPr>
          <p:cNvPr id="5" name="Text 3"/>
          <p:cNvSpPr txBox="1"/>
          <p:nvPr/>
        </p:nvSpPr>
        <p:spPr>
          <a:xfrm>
            <a:off x="6309360" y="1371600"/>
            <a:ext cx="5029200" cy="411480"/>
          </a:xfrm>
          <a:prstGeom prst="rect">
            <a:avLst/>
          </a:prstGeom>
          <a:noFill/>
          <a:ln/>
        </p:spPr>
        <p:txBody>
          <a:bodyPr wrap="square" lIns="0" tIns="0" rIns="0" bIns="0" rtlCol="0" anchor="ctr"/>
          <a:lstStyle/>
          <a:p>
            <a:pPr indent="0" marL="0">
              <a:buNone/>
            </a:pPr>
            <a:r>
              <a:rPr lang="en-US" sz="2200" b="1" dirty="0">
                <a:solidFill>
                  <a:schemeClr val="accent3"/>
                </a:solidFill>
              </a:rPr>
              <a:t>Admin Portal</a:t>
            </a:r>
            <a:endParaRPr lang="en-US" sz="2200" dirty="0"/>
          </a:p>
        </p:txBody>
      </p:sp>
      <p:sp>
        <p:nvSpPr>
          <p:cNvPr id="6" name="Bullets"/>
          <p:cNvSpPr txBox="1"/>
          <p:nvPr/>
        </p:nvSpPr>
        <p:spPr>
          <a:xfrm>
            <a:off x="6309360" y="1874520"/>
            <a:ext cx="5120640" cy="2926080"/>
          </a:xfrm>
          <a:prstGeom prst="rect">
            <a:avLst/>
          </a:prstGeom>
          <a:noFill/>
          <a:ln/>
        </p:spPr>
        <p:txBody>
          <a:bodyPr wrap="square" lIns="0" tIns="0" rIns="0" bIns="0" rtlCol="0" anchor="t"/>
          <a:lstStyle/>
          <a:p>
            <a:pPr marL="342900" indent="-342900">
              <a:spcAft>
                <a:spcPts val="500"/>
              </a:spcAft>
              <a:buSzPct val="100000"/>
              <a:buChar char="•"/>
            </a:pPr>
            <a:r>
              <a:rPr lang="en-US" sz="1900" dirty="0">
                <a:solidFill>
                  <a:schemeClr val="tx1"/>
                </a:solidFill>
              </a:rPr>
              <a:t>Dashboard</a:t>
            </a:r>
            <a:endParaRPr lang="en-US" sz="1900" dirty="0"/>
          </a:p>
          <a:p>
            <a:pPr marL="342900" indent="-342900">
              <a:spcAft>
                <a:spcPts val="500"/>
              </a:spcAft>
              <a:buSzPct val="100000"/>
              <a:buChar char="•"/>
            </a:pPr>
            <a:r>
              <a:rPr lang="en-US" sz="1900" dirty="0">
                <a:solidFill>
                  <a:schemeClr val="tx1"/>
                </a:solidFill>
              </a:rPr>
              <a:t>Books and Users Management</a:t>
            </a:r>
            <a:endParaRPr lang="en-US" sz="1900" dirty="0"/>
          </a:p>
          <a:p>
            <a:pPr marL="342900" indent="-342900">
              <a:spcAft>
                <a:spcPts val="500"/>
              </a:spcAft>
              <a:buSzPct val="100000"/>
              <a:buChar char="•"/>
            </a:pPr>
            <a:r>
              <a:rPr lang="en-US" sz="1900" dirty="0">
                <a:solidFill>
                  <a:schemeClr val="tx1"/>
                </a:solidFill>
              </a:rPr>
              <a:t>Issue / Return</a:t>
            </a:r>
            <a:endParaRPr lang="en-US" sz="1900" dirty="0"/>
          </a:p>
          <a:p>
            <a:pPr marL="342900" indent="-342900">
              <a:spcAft>
                <a:spcPts val="500"/>
              </a:spcAft>
              <a:buSzPct val="100000"/>
              <a:buChar char="•"/>
            </a:pPr>
            <a:r>
              <a:rPr lang="en-US" sz="1900" dirty="0">
                <a:solidFill>
                  <a:schemeClr val="tx1"/>
                </a:solidFill>
              </a:rPr>
              <a:t>Fines and Events Management</a:t>
            </a:r>
            <a:endParaRPr lang="en-US" sz="1900" dirty="0"/>
          </a:p>
          <a:p>
            <a:pPr marL="342900" indent="-342900">
              <a:spcAft>
                <a:spcPts val="500"/>
              </a:spcAft>
              <a:buSzPct val="100000"/>
              <a:buChar char="•"/>
            </a:pPr>
            <a:r>
              <a:rPr lang="en-US" sz="1900" dirty="0">
                <a:solidFill>
                  <a:schemeClr val="tx1"/>
                </a:solidFill>
              </a:rPr>
              <a:t>Reports and Analytics</a:t>
            </a:r>
            <a:endParaRPr lang="en-US" sz="1900" dirty="0"/>
          </a:p>
          <a:p>
            <a:pPr marL="342900" indent="-342900">
              <a:spcAft>
                <a:spcPts val="500"/>
              </a:spcAft>
              <a:buSzPct val="100000"/>
              <a:buChar char="•"/>
            </a:pPr>
            <a:r>
              <a:rPr lang="en-US" sz="1900" dirty="0">
                <a:solidFill>
                  <a:schemeClr val="tx1"/>
                </a:solidFill>
              </a:rPr>
              <a:t>AI Insights</a:t>
            </a:r>
            <a:endParaRPr lang="en-US" sz="1900" dirty="0"/>
          </a:p>
          <a:p>
            <a:pPr marL="342900" indent="-342900">
              <a:spcAft>
                <a:spcPts val="500"/>
              </a:spcAft>
              <a:buSzPct val="100000"/>
              <a:buChar char="•"/>
            </a:pPr>
            <a:r>
              <a:rPr lang="en-US" sz="1900" dirty="0">
                <a:solidFill>
                  <a:schemeClr val="tx1"/>
                </a:solidFill>
              </a:rPr>
              <a:t>Research Papers, Settings</a:t>
            </a:r>
            <a:endParaRPr lang="en-US" sz="1900" dirty="0"/>
          </a:p>
        </p:txBody>
      </p:sp>
      <p:sp>
        <p:nvSpPr>
          <p:cNvPr id="7" name="Text 5"/>
          <p:cNvSpPr txBox="1"/>
          <p:nvPr/>
        </p:nvSpPr>
        <p:spPr>
          <a:xfrm>
            <a:off x="822960" y="4937760"/>
            <a:ext cx="10515600" cy="1188720"/>
          </a:xfrm>
          <a:prstGeom prst="rect">
            <a:avLst/>
          </a:prstGeom>
          <a:noFill/>
          <a:ln/>
        </p:spPr>
        <p:txBody>
          <a:bodyPr wrap="square" lIns="0" tIns="0" rIns="0" bIns="0" rtlCol="0" anchor="ctr"/>
          <a:lstStyle/>
          <a:p>
            <a:pPr indent="0" marL="0">
              <a:buNone/>
            </a:pPr>
            <a:r>
              <a:rPr lang="en-US" sz="1800" b="1" dirty="0">
                <a:solidFill>
                  <a:schemeClr val="tx1"/>
                </a:solidFill>
              </a:rPr>
              <a:t>Extra features: </a:t>
            </a:r>
            <a:pPr indent="0" marL="0">
              <a:buNone/>
            </a:pPr>
            <a:r>
              <a:rPr lang="en-US" sz="1800" dirty="0">
                <a:solidFill>
                  <a:schemeClr val="tx1"/>
                </a:solidFill>
              </a:rPr>
              <a:t>QR / barcode scanner for issue and return, self-checkout kiosk, digital student ID card with QR code, in-app PDF viewer, citation export, library floor map and email / SMS notifications.</a:t>
            </a:r>
            <a:endParaRPr lang="en-US" sz="18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AI Service Endpoints</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651760"/>
                <a:gridCol w="3383280"/>
                <a:gridCol w="5056632"/>
              </a:tblGrid>
              <a:tr h="457200">
                <a:tc>
                  <a:txBody>
                    <a:bodyPr/>
                    <a:lstStyle/>
                    <a:p>
                      <a:pPr indent="0" marL="0">
                        <a:buNone/>
                      </a:pPr>
                      <a:r>
                        <a:rPr lang="en-US" sz="1600" b="1" dirty="0">
                          <a:solidFill>
                            <a:schemeClr val="bg1"/>
                          </a:solidFill>
                        </a:rPr>
                        <a:t>Feature</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accent2"/>
                    </a:solidFill>
                  </a:tcPr>
                </a:tc>
                <a:tc>
                  <a:txBody>
                    <a:bodyPr/>
                    <a:lstStyle/>
                    <a:p>
                      <a:pPr indent="0" marL="0">
                        <a:buNone/>
                      </a:pPr>
                      <a:r>
                        <a:rPr lang="en-US" sz="1600" b="1" dirty="0">
                          <a:solidFill>
                            <a:schemeClr val="bg1"/>
                          </a:solidFill>
                        </a:rPr>
                        <a:t>Endpoint</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accent2"/>
                    </a:solidFill>
                  </a:tcPr>
                </a:tc>
                <a:tc>
                  <a:txBody>
                    <a:bodyPr/>
                    <a:lstStyle/>
                    <a:p>
                      <a:pPr indent="0" marL="0">
                        <a:buNone/>
                      </a:pPr>
                      <a:r>
                        <a:rPr lang="en-US" sz="1600" b="1" dirty="0">
                          <a:solidFill>
                            <a:schemeClr val="bg1"/>
                          </a:solidFill>
                        </a:rPr>
                        <a:t>What it does</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accent2"/>
                    </a:solidFill>
                  </a:tcPr>
                </a:tc>
              </a:tr>
              <a:tr h="685800">
                <a:tc>
                  <a:txBody>
                    <a:bodyPr/>
                    <a:lstStyle/>
                    <a:p>
                      <a:pPr indent="0" marL="0">
                        <a:buNone/>
                      </a:pPr>
                      <a:r>
                        <a:rPr lang="en-US" sz="1600" b="1" dirty="0">
                          <a:solidFill>
                            <a:schemeClr val="tx1"/>
                          </a:solidFill>
                        </a:rPr>
                        <a:t>Library Assistant</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POST /api/chat</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Answers book questions using the catalog (title, author, shelf, copies)</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685800">
                <a:tc>
                  <a:txBody>
                    <a:bodyPr/>
                    <a:lstStyle/>
                    <a:p>
                      <a:pPr indent="0" marL="0">
                        <a:buNone/>
                      </a:pPr>
                      <a:r>
                        <a:rPr lang="en-US" sz="1600" b="1" dirty="0">
                          <a:solidFill>
                            <a:schemeClr val="tx1"/>
                          </a:solidFill>
                        </a:rPr>
                        <a:t>Syllabus Matcher</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POST /api/syllabus/match</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Divides the syllabus into 3 to 5 units and matches books with a weekly plan</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r h="685800">
                <a:tc>
                  <a:txBody>
                    <a:bodyPr/>
                    <a:lstStyle/>
                    <a:p>
                      <a:pPr indent="0" marL="0">
                        <a:buNone/>
                      </a:pPr>
                      <a:r>
                        <a:rPr lang="en-US" sz="1600" b="1" dirty="0">
                          <a:solidFill>
                            <a:schemeClr val="tx1"/>
                          </a:solidFill>
                        </a:rPr>
                        <a:t>Book summary and Q&amp;A</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/api/book-ai/summary and /ask</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Key points and answers to questions about a book</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685800">
                <a:tc>
                  <a:txBody>
                    <a:bodyPr/>
                    <a:lstStyle/>
                    <a:p>
                      <a:pPr indent="0" marL="0">
                        <a:buNone/>
                      </a:pPr>
                      <a:r>
                        <a:rPr lang="en-US" sz="1600" b="1" dirty="0">
                          <a:solidFill>
                            <a:schemeClr val="tx1"/>
                          </a:solidFill>
                        </a:rPr>
                        <a:t>Reader Copilot</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POST /api/book-ai/explain</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Explain, translate, summarize or quiz on selected text</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r h="685800">
                <a:tc>
                  <a:txBody>
                    <a:bodyPr/>
                    <a:lstStyle/>
                    <a:p>
                      <a:pPr indent="0" marL="0">
                        <a:buNone/>
                      </a:pPr>
                      <a:r>
                        <a:rPr lang="en-US" sz="1600" b="1" dirty="0">
                          <a:solidFill>
                            <a:schemeClr val="tx1"/>
                          </a:solidFill>
                        </a:rPr>
                        <a:t>Research paper AI</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/api/papers/ai/summary and /ask</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Summary and Q&amp;A for a research paper</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685800">
                <a:tc>
                  <a:txBody>
                    <a:bodyPr/>
                    <a:lstStyle/>
                    <a:p>
                      <a:pPr indent="0" marL="0">
                        <a:buNone/>
                      </a:pPr>
                      <a:r>
                        <a:rPr lang="en-US" sz="1600" b="1" dirty="0">
                          <a:solidFill>
                            <a:schemeClr val="tx1"/>
                          </a:solidFill>
                        </a:rPr>
                        <a:t>Health check</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GET /api/ai/health</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Shows if the service is running and Gemini key is set</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Accuracy of Results</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194560"/>
                <a:gridCol w="3931920"/>
                <a:gridCol w="4965192"/>
              </a:tblGrid>
              <a:tr h="457200">
                <a:tc>
                  <a:txBody>
                    <a:bodyPr/>
                    <a:lstStyle/>
                    <a:p>
                      <a:pPr indent="0" marL="0">
                        <a:buNone/>
                      </a:pPr>
                      <a:r>
                        <a:rPr lang="en-US" sz="1600" b="1" dirty="0">
                          <a:solidFill>
                            <a:schemeClr val="bg1"/>
                          </a:solidFill>
                        </a:rPr>
                        <a:t>Module</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accent2"/>
                    </a:solidFill>
                  </a:tcPr>
                </a:tc>
                <a:tc>
                  <a:txBody>
                    <a:bodyPr/>
                    <a:lstStyle/>
                    <a:p>
                      <a:pPr indent="0" marL="0">
                        <a:buNone/>
                      </a:pPr>
                      <a:r>
                        <a:rPr lang="en-US" sz="1600" b="1" dirty="0">
                          <a:solidFill>
                            <a:schemeClr val="bg1"/>
                          </a:solidFill>
                        </a:rPr>
                        <a:t>Input given</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accent2"/>
                    </a:solidFill>
                  </a:tcPr>
                </a:tc>
                <a:tc>
                  <a:txBody>
                    <a:bodyPr/>
                    <a:lstStyle/>
                    <a:p>
                      <a:pPr indent="0" marL="0">
                        <a:buNone/>
                      </a:pPr>
                      <a:r>
                        <a:rPr lang="en-US" sz="1600" b="1" dirty="0">
                          <a:solidFill>
                            <a:schemeClr val="bg1"/>
                          </a:solidFill>
                        </a:rPr>
                        <a:t>Result obtained</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accent2"/>
                    </a:solidFill>
                  </a:tcPr>
                </a:tc>
              </a:tr>
              <a:tr h="713232">
                <a:tc>
                  <a:txBody>
                    <a:bodyPr/>
                    <a:lstStyle/>
                    <a:p>
                      <a:pPr indent="0" marL="0">
                        <a:buNone/>
                      </a:pPr>
                      <a:r>
                        <a:rPr lang="en-US" sz="1600" b="1" dirty="0">
                          <a:solidFill>
                            <a:schemeClr val="tx1"/>
                          </a:solidFill>
                        </a:rPr>
                        <a:t>AI Assistant</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Asked for a book that is in the catalog</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Correct title, author, shelf and available copies shown</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713232">
                <a:tc>
                  <a:txBody>
                    <a:bodyPr/>
                    <a:lstStyle/>
                    <a:p>
                      <a:pPr indent="0" marL="0">
                        <a:buNone/>
                      </a:pPr>
                      <a:r>
                        <a:rPr lang="en-US" sz="1600" b="1" dirty="0">
                          <a:solidFill>
                            <a:schemeClr val="tx1"/>
                          </a:solidFill>
                        </a:rPr>
                        <a:t>AI Assistant</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Asked with no Gemini key set</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Still replied from catalog data with correct shelf and stock</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r h="713232">
                <a:tc>
                  <a:txBody>
                    <a:bodyPr/>
                    <a:lstStyle/>
                    <a:p>
                      <a:pPr indent="0" marL="0">
                        <a:buNone/>
                      </a:pPr>
                      <a:r>
                        <a:rPr lang="en-US" sz="1600" b="1" dirty="0">
                          <a:solidFill>
                            <a:schemeClr val="tx1"/>
                          </a:solidFill>
                        </a:rPr>
                        <a:t>Syllabus Matcher</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Syllabus text with duration</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Units, matched books with scores and weekly plan generated</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713232">
                <a:tc>
                  <a:txBody>
                    <a:bodyPr/>
                    <a:lstStyle/>
                    <a:p>
                      <a:pPr indent="0" marL="0">
                        <a:buNone/>
                      </a:pPr>
                      <a:r>
                        <a:rPr lang="en-US" sz="1600" b="1" dirty="0">
                          <a:solidFill>
                            <a:schemeClr val="tx1"/>
                          </a:solidFill>
                        </a:rPr>
                        <a:t>Syllabus Matcher</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Empty syllabus</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Error 400 with a clear message</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r h="713232">
                <a:tc>
                  <a:txBody>
                    <a:bodyPr/>
                    <a:lstStyle/>
                    <a:p>
                      <a:pPr indent="0" marL="0">
                        <a:buNone/>
                      </a:pPr>
                      <a:r>
                        <a:rPr lang="en-US" sz="1600" b="1" dirty="0">
                          <a:solidFill>
                            <a:schemeClr val="tx1"/>
                          </a:solidFill>
                        </a:rPr>
                        <a:t>Issue / Return</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Book scanned with QR code</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Transaction saved with date, due date, fine and status</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713232">
                <a:tc>
                  <a:txBody>
                    <a:bodyPr/>
                    <a:lstStyle/>
                    <a:p>
                      <a:pPr indent="0" marL="0">
                        <a:buNone/>
                      </a:pPr>
                      <a:r>
                        <a:rPr lang="en-US" sz="1600" b="1" dirty="0">
                          <a:solidFill>
                            <a:schemeClr val="tx1"/>
                          </a:solidFill>
                        </a:rPr>
                        <a:t>Gateway</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Called /health</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Shows gateway, database and service status</a:t>
                      </a:r>
                      <a:endParaRPr lang="en-US" sz="16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Methodology Evaluation</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286000"/>
                <a:gridCol w="4297680"/>
                <a:gridCol w="4507992"/>
              </a:tblGrid>
              <a:tr h="457200">
                <a:tc>
                  <a:txBody>
                    <a:bodyPr/>
                    <a:lstStyle/>
                    <a:p>
                      <a:pPr indent="0" marL="0">
                        <a:buNone/>
                      </a:pPr>
                      <a:r>
                        <a:rPr lang="en-US" sz="1700" b="1" dirty="0">
                          <a:solidFill>
                            <a:schemeClr val="bg1"/>
                          </a:solidFill>
                        </a:rPr>
                        <a:t>Point</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accent2"/>
                    </a:solidFill>
                  </a:tcPr>
                </a:tc>
                <a:tc>
                  <a:txBody>
                    <a:bodyPr/>
                    <a:lstStyle/>
                    <a:p>
                      <a:pPr indent="0" marL="0">
                        <a:buNone/>
                      </a:pPr>
                      <a:r>
                        <a:rPr lang="en-US" sz="1700" b="1" dirty="0">
                          <a:solidFill>
                            <a:schemeClr val="bg1"/>
                          </a:solidFill>
                        </a:rPr>
                        <a:t>Traditional (monolithic) system</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accent2"/>
                    </a:solidFill>
                  </a:tcPr>
                </a:tc>
                <a:tc>
                  <a:txBody>
                    <a:bodyPr/>
                    <a:lstStyle/>
                    <a:p>
                      <a:pPr indent="0" marL="0">
                        <a:buNone/>
                      </a:pPr>
                      <a:r>
                        <a:rPr lang="en-US" sz="1700" b="1" dirty="0">
                          <a:solidFill>
                            <a:schemeClr val="bg1"/>
                          </a:solidFill>
                        </a:rPr>
                        <a:t>Our SOA + AI system</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accent2"/>
                    </a:solidFill>
                  </a:tcPr>
                </a:tc>
              </a:tr>
              <a:tr h="658368">
                <a:tc>
                  <a:txBody>
                    <a:bodyPr/>
                    <a:lstStyle/>
                    <a:p>
                      <a:pPr indent="0" marL="0">
                        <a:buNone/>
                      </a:pPr>
                      <a:r>
                        <a:rPr lang="en-US" sz="1700" b="1" dirty="0">
                          <a:solidFill>
                            <a:schemeClr val="tx1"/>
                          </a:solidFill>
                        </a:rPr>
                        <a:t>Structure</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One big application</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Separate services behind one gateway</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658368">
                <a:tc>
                  <a:txBody>
                    <a:bodyPr/>
                    <a:lstStyle/>
                    <a:p>
                      <a:pPr indent="0" marL="0">
                        <a:buNone/>
                      </a:pPr>
                      <a:r>
                        <a:rPr lang="en-US" sz="1700" b="1" dirty="0">
                          <a:solidFill>
                            <a:schemeClr val="tx1"/>
                          </a:solidFill>
                        </a:rPr>
                        <a:t>Scaling</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Whole application has to be scaled</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Only the needed service is changed or scaled</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r h="658368">
                <a:tc>
                  <a:txBody>
                    <a:bodyPr/>
                    <a:lstStyle/>
                    <a:p>
                      <a:pPr indent="0" marL="0">
                        <a:buNone/>
                      </a:pPr>
                      <a:r>
                        <a:rPr lang="en-US" sz="1700" b="1" dirty="0">
                          <a:solidFill>
                            <a:schemeClr val="tx1"/>
                          </a:solidFill>
                        </a:rPr>
                        <a:t>Failure</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One fault can stop everything</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AI problem does not stop the library work</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658368">
                <a:tc>
                  <a:txBody>
                    <a:bodyPr/>
                    <a:lstStyle/>
                    <a:p>
                      <a:pPr indent="0" marL="0">
                        <a:buNone/>
                      </a:pPr>
                      <a:r>
                        <a:rPr lang="en-US" sz="1700" b="1" dirty="0">
                          <a:solidFill>
                            <a:schemeClr val="tx1"/>
                          </a:solidFill>
                        </a:rPr>
                        <a:t>Search and help</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Keyword search, staff help</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AI search, chatbot and syllabus based books</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r h="658368">
                <a:tc>
                  <a:txBody>
                    <a:bodyPr/>
                    <a:lstStyle/>
                    <a:p>
                      <a:pPr indent="0" marL="0">
                        <a:buNone/>
                      </a:pPr>
                      <a:r>
                        <a:rPr lang="en-US" sz="1700" b="1" dirty="0">
                          <a:solidFill>
                            <a:schemeClr val="tx1"/>
                          </a:solidFill>
                        </a:rPr>
                        <a:t>Maintenance</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Any change touches all the code</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Each service can be updated alone</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1"/>
                    </a:solidFill>
                  </a:tcPr>
                </a:tc>
              </a:tr>
              <a:tr h="658368">
                <a:tc>
                  <a:txBody>
                    <a:bodyPr/>
                    <a:lstStyle/>
                    <a:p>
                      <a:pPr indent="0" marL="0">
                        <a:buNone/>
                      </a:pPr>
                      <a:r>
                        <a:rPr lang="en-US" sz="1700" b="1" dirty="0">
                          <a:solidFill>
                            <a:schemeClr val="tx1"/>
                          </a:solidFill>
                        </a:rPr>
                        <a:t>Cost</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Paid software and big servers</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Open source tools and SQLite</a:t>
                      </a:r>
                      <a:endParaRPr lang="en-US" sz="1700" dirty="0"/>
                    </a:p>
                  </a:txBody>
                  <a:tcPr marL="91440" marR="91440" marT="45720" marB="45720" anchor="ctr">
                    <a:lnL w="9525" cap="flat" cmpd="sng" algn="ctr">
                      <a:solidFill>
                        <a:srgbClr val="7F9DB5"/>
                      </a:solidFill>
                      <a:prstDash val="solid"/>
                      <a:round/>
                      <a:headEnd type="none" w="med" len="med"/>
                      <a:tailEnd type="none" w="med" len="med"/>
                    </a:lnL>
                    <a:lnR w="9525" cap="flat" cmpd="sng" algn="ctr">
                      <a:solidFill>
                        <a:srgbClr val="7F9DB5"/>
                      </a:solidFill>
                      <a:prstDash val="solid"/>
                      <a:round/>
                      <a:headEnd type="none" w="med" len="med"/>
                      <a:tailEnd type="none" w="med" len="med"/>
                    </a:lnR>
                    <a:lnT w="9525" cap="flat" cmpd="sng" algn="ctr">
                      <a:solidFill>
                        <a:srgbClr val="7F9DB5"/>
                      </a:solidFill>
                      <a:prstDash val="solid"/>
                      <a:round/>
                      <a:headEnd type="none" w="med" len="med"/>
                      <a:tailEnd type="none" w="med" len="med"/>
                    </a:lnT>
                    <a:lnB w="9525" cap="flat" cmpd="sng" algn="ctr">
                      <a:solidFill>
                        <a:srgbClr val="7F9DB5"/>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Innovative and Sustainable Features</a:t>
            </a:r>
            <a:endParaRPr lang="en-US" sz="3400" dirty="0"/>
          </a:p>
        </p:txBody>
      </p:sp>
      <p:sp>
        <p:nvSpPr>
          <p:cNvPr id="3" name="Text 1"/>
          <p:cNvSpPr txBox="1"/>
          <p:nvPr/>
        </p:nvSpPr>
        <p:spPr>
          <a:xfrm>
            <a:off x="822960" y="1371600"/>
            <a:ext cx="5029200" cy="411480"/>
          </a:xfrm>
          <a:prstGeom prst="rect">
            <a:avLst/>
          </a:prstGeom>
          <a:noFill/>
          <a:ln/>
        </p:spPr>
        <p:txBody>
          <a:bodyPr wrap="square" lIns="0" tIns="0" rIns="0" bIns="0" rtlCol="0" anchor="ctr"/>
          <a:lstStyle/>
          <a:p>
            <a:pPr indent="0" marL="0">
              <a:buNone/>
            </a:pPr>
            <a:r>
              <a:rPr lang="en-US" sz="2200" b="1" dirty="0">
                <a:solidFill>
                  <a:schemeClr val="accent3"/>
                </a:solidFill>
              </a:rPr>
              <a:t>Innovative</a:t>
            </a:r>
            <a:endParaRPr lang="en-US" sz="2200" dirty="0"/>
          </a:p>
        </p:txBody>
      </p:sp>
      <p:sp>
        <p:nvSpPr>
          <p:cNvPr id="4" name="Bullets"/>
          <p:cNvSpPr txBox="1"/>
          <p:nvPr/>
        </p:nvSpPr>
        <p:spPr>
          <a:xfrm>
            <a:off x="822960" y="1874520"/>
            <a:ext cx="4937760" cy="384048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chemeClr val="tx1"/>
                </a:solidFill>
              </a:rPr>
              <a:t>AI copilot inside the book reader</a:t>
            </a:r>
            <a:endParaRPr lang="en-US" sz="1900" dirty="0"/>
          </a:p>
          <a:p>
            <a:pPr marL="342900" indent="-342900">
              <a:spcAft>
                <a:spcPts val="1000"/>
              </a:spcAft>
              <a:buSzPct val="100000"/>
              <a:buChar char="•"/>
            </a:pPr>
            <a:r>
              <a:rPr lang="en-US" sz="1900" dirty="0">
                <a:solidFill>
                  <a:schemeClr val="tx1"/>
                </a:solidFill>
              </a:rPr>
              <a:t>Reading plan made from the syllabus</a:t>
            </a:r>
            <a:endParaRPr lang="en-US" sz="1900" dirty="0"/>
          </a:p>
          <a:p>
            <a:pPr marL="342900" indent="-342900">
              <a:spcAft>
                <a:spcPts val="1000"/>
              </a:spcAft>
              <a:buSzPct val="100000"/>
              <a:buChar char="•"/>
            </a:pPr>
            <a:r>
              <a:rPr lang="en-US" sz="1900" dirty="0">
                <a:solidFill>
                  <a:schemeClr val="tx1"/>
                </a:solidFill>
              </a:rPr>
              <a:t>QR based self-checkout kiosk</a:t>
            </a:r>
            <a:endParaRPr lang="en-US" sz="1900" dirty="0"/>
          </a:p>
          <a:p>
            <a:pPr marL="342900" indent="-342900">
              <a:spcAft>
                <a:spcPts val="1000"/>
              </a:spcAft>
              <a:buSzPct val="100000"/>
              <a:buChar char="•"/>
            </a:pPr>
            <a:r>
              <a:rPr lang="en-US" sz="1900" dirty="0">
                <a:solidFill>
                  <a:schemeClr val="tx1"/>
                </a:solidFill>
              </a:rPr>
              <a:t>Digital student ID with QR code</a:t>
            </a:r>
            <a:endParaRPr lang="en-US" sz="1900" dirty="0"/>
          </a:p>
          <a:p>
            <a:pPr marL="342900" indent="-342900">
              <a:spcAft>
                <a:spcPts val="1000"/>
              </a:spcAft>
              <a:buSzPct val="100000"/>
              <a:buChar char="•"/>
            </a:pPr>
            <a:r>
              <a:rPr lang="en-US" sz="1900" dirty="0">
                <a:solidFill>
                  <a:schemeClr val="tx1"/>
                </a:solidFill>
              </a:rPr>
              <a:t>AI translation of book text</a:t>
            </a:r>
            <a:endParaRPr lang="en-US" sz="1900" dirty="0"/>
          </a:p>
        </p:txBody>
      </p:sp>
      <p:sp>
        <p:nvSpPr>
          <p:cNvPr id="5" name="Text 3"/>
          <p:cNvSpPr txBox="1"/>
          <p:nvPr/>
        </p:nvSpPr>
        <p:spPr>
          <a:xfrm>
            <a:off x="6309360" y="1371600"/>
            <a:ext cx="5029200" cy="411480"/>
          </a:xfrm>
          <a:prstGeom prst="rect">
            <a:avLst/>
          </a:prstGeom>
          <a:noFill/>
          <a:ln/>
        </p:spPr>
        <p:txBody>
          <a:bodyPr wrap="square" lIns="0" tIns="0" rIns="0" bIns="0" rtlCol="0" anchor="ctr"/>
          <a:lstStyle/>
          <a:p>
            <a:pPr indent="0" marL="0">
              <a:buNone/>
            </a:pPr>
            <a:r>
              <a:rPr lang="en-US" sz="2200" b="1" dirty="0">
                <a:solidFill>
                  <a:schemeClr val="accent3"/>
                </a:solidFill>
              </a:rPr>
              <a:t>Sustainable</a:t>
            </a:r>
            <a:endParaRPr lang="en-US" sz="2200" dirty="0"/>
          </a:p>
        </p:txBody>
      </p:sp>
      <p:sp>
        <p:nvSpPr>
          <p:cNvPr id="6" name="Bullets"/>
          <p:cNvSpPr txBox="1"/>
          <p:nvPr/>
        </p:nvSpPr>
        <p:spPr>
          <a:xfrm>
            <a:off x="6309360" y="1874520"/>
            <a:ext cx="5120640" cy="384048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chemeClr val="tx1"/>
                </a:solidFill>
              </a:rPr>
              <a:t>Less paper: digital ID, e-notifications, PDF reading</a:t>
            </a:r>
            <a:endParaRPr lang="en-US" sz="1900" dirty="0"/>
          </a:p>
          <a:p>
            <a:pPr marL="342900" indent="-342900">
              <a:spcAft>
                <a:spcPts val="1000"/>
              </a:spcAft>
              <a:buSzPct val="100000"/>
              <a:buChar char="•"/>
            </a:pPr>
            <a:r>
              <a:rPr lang="en-US" sz="1900" dirty="0">
                <a:solidFill>
                  <a:schemeClr val="tx1"/>
                </a:solidFill>
              </a:rPr>
              <a:t>Only open source tools, no licence cost</a:t>
            </a:r>
            <a:endParaRPr lang="en-US" sz="1900" dirty="0"/>
          </a:p>
          <a:p>
            <a:pPr marL="342900" indent="-342900">
              <a:spcAft>
                <a:spcPts val="1000"/>
              </a:spcAft>
              <a:buSzPct val="100000"/>
              <a:buChar char="•"/>
            </a:pPr>
            <a:r>
              <a:rPr lang="en-US" sz="1900" dirty="0">
                <a:solidFill>
                  <a:schemeClr val="tx1"/>
                </a:solidFill>
              </a:rPr>
              <a:t>SQLite needs no separate database server</a:t>
            </a:r>
            <a:endParaRPr lang="en-US" sz="1900" dirty="0"/>
          </a:p>
          <a:p>
            <a:pPr marL="342900" indent="-342900">
              <a:spcAft>
                <a:spcPts val="1000"/>
              </a:spcAft>
              <a:buSzPct val="100000"/>
              <a:buChar char="•"/>
            </a:pPr>
            <a:r>
              <a:rPr lang="en-US" sz="1900" dirty="0">
                <a:solidFill>
                  <a:schemeClr val="tx1"/>
                </a:solidFill>
              </a:rPr>
              <a:t>Services can be upgraded one by one</a:t>
            </a:r>
            <a:endParaRPr lang="en-US" sz="1900" dirty="0"/>
          </a:p>
          <a:p>
            <a:pPr marL="342900" indent="-342900">
              <a:spcAft>
                <a:spcPts val="1000"/>
              </a:spcAft>
              <a:buSzPct val="100000"/>
              <a:buChar char="•"/>
            </a:pPr>
            <a:r>
              <a:rPr lang="en-US" sz="1900" dirty="0">
                <a:solidFill>
                  <a:schemeClr val="tx1"/>
                </a:solidFill>
              </a:rPr>
              <a:t>Runs on a normal college computer</a:t>
            </a:r>
            <a:endParaRPr lang="en-US" sz="19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Adaptability of Methodology</a:t>
            </a:r>
            <a:endParaRPr lang="en-US" sz="3400" dirty="0"/>
          </a:p>
        </p:txBody>
      </p:sp>
      <p:sp>
        <p:nvSpPr>
          <p:cNvPr id="3" name="Bullets"/>
          <p:cNvSpPr txBox="1"/>
          <p:nvPr/>
        </p:nvSpPr>
        <p:spPr>
          <a:xfrm>
            <a:off x="822960" y="1554480"/>
            <a:ext cx="10515600" cy="4754880"/>
          </a:xfrm>
          <a:prstGeom prst="rect">
            <a:avLst/>
          </a:prstGeom>
          <a:noFill/>
          <a:ln/>
        </p:spPr>
        <p:txBody>
          <a:bodyPr wrap="square" lIns="0" tIns="0" rIns="0" bIns="0" rtlCol="0" anchor="t"/>
          <a:lstStyle/>
          <a:p>
            <a:pPr indent="0" marL="0">
              <a:spcAft>
                <a:spcPts val="2200"/>
              </a:spcAft>
              <a:buNone/>
            </a:pPr>
            <a:r>
              <a:rPr lang="en-US" sz="2400" b="1" dirty="0">
                <a:solidFill>
                  <a:schemeClr val="tx1"/>
                </a:solidFill>
              </a:rPr>
              <a:t>Easy to configure: </a:t>
            </a:r>
            <a:pPr indent="0" marL="0">
              <a:spcAft>
                <a:spcPts val="2200"/>
              </a:spcAft>
              <a:buNone/>
            </a:pPr>
            <a:r>
              <a:rPr lang="en-US" sz="2400" dirty="0">
                <a:solidFill>
                  <a:schemeClr val="tx1"/>
                </a:solidFill>
              </a:rPr>
              <a:t>ports, database path, AI service URL and API key are kept in config / .env files.</a:t>
            </a:r>
            <a:endParaRPr lang="en-US" sz="2400" dirty="0"/>
          </a:p>
          <a:p>
            <a:pPr indent="0" marL="0">
              <a:spcAft>
                <a:spcPts val="2200"/>
              </a:spcAft>
              <a:buNone/>
            </a:pPr>
            <a:r>
              <a:rPr lang="en-US" sz="2400" b="1" dirty="0">
                <a:solidFill>
                  <a:schemeClr val="tx1"/>
                </a:solidFill>
              </a:rPr>
              <a:t>AI can be replaced: </a:t>
            </a:r>
            <a:pPr indent="0" marL="0">
              <a:spcAft>
                <a:spcPts val="2200"/>
              </a:spcAft>
              <a:buNone/>
            </a:pPr>
            <a:r>
              <a:rPr lang="en-US" sz="2400" dirty="0">
                <a:solidFill>
                  <a:schemeClr val="tx1"/>
                </a:solidFill>
              </a:rPr>
              <a:t>all AI code is in one Python service, so another model can be used without changing the frontend.</a:t>
            </a:r>
            <a:endParaRPr lang="en-US" sz="2400" dirty="0"/>
          </a:p>
          <a:p>
            <a:pPr indent="0" marL="0">
              <a:spcAft>
                <a:spcPts val="2200"/>
              </a:spcAft>
              <a:buNone/>
            </a:pPr>
            <a:r>
              <a:rPr lang="en-US" sz="2400" b="1" dirty="0">
                <a:solidFill>
                  <a:schemeClr val="tx1"/>
                </a:solidFill>
              </a:rPr>
              <a:t>Other colleges: </a:t>
            </a:r>
            <a:pPr indent="0" marL="0">
              <a:spcAft>
                <a:spcPts val="2200"/>
              </a:spcAft>
              <a:buNone/>
            </a:pPr>
            <a:r>
              <a:rPr lang="en-US" sz="2400" dirty="0">
                <a:solidFill>
                  <a:schemeClr val="tx1"/>
                </a:solidFill>
              </a:rPr>
              <a:t>books, shelves and categories come from the database, so any library can use it.</a:t>
            </a:r>
            <a:endParaRPr lang="en-US" sz="2400" dirty="0"/>
          </a:p>
          <a:p>
            <a:pPr indent="0" marL="0">
              <a:spcAft>
                <a:spcPts val="2200"/>
              </a:spcAft>
              <a:buNone/>
            </a:pPr>
            <a:r>
              <a:rPr lang="en-US" sz="2400" b="1" dirty="0">
                <a:solidFill>
                  <a:schemeClr val="tx1"/>
                </a:solidFill>
              </a:rPr>
              <a:t>Other domains: </a:t>
            </a:r>
            <a:pPr indent="0" marL="0">
              <a:spcAft>
                <a:spcPts val="2200"/>
              </a:spcAft>
              <a:buNone/>
            </a:pPr>
            <a:r>
              <a:rPr lang="en-US" sz="2400" dirty="0">
                <a:solidFill>
                  <a:schemeClr val="tx1"/>
                </a:solidFill>
              </a:rPr>
              <a:t>the same design can be used for lab inventory, e-learning or document management.</a:t>
            </a:r>
            <a:endParaRPr lang="en-US" sz="2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Utility to Society</a:t>
            </a:r>
            <a:endParaRPr lang="en-US" sz="3400" dirty="0"/>
          </a:p>
        </p:txBody>
      </p:sp>
      <p:sp>
        <p:nvSpPr>
          <p:cNvPr id="3" name="Bullets"/>
          <p:cNvSpPr txBox="1"/>
          <p:nvPr/>
        </p:nvSpPr>
        <p:spPr>
          <a:xfrm>
            <a:off x="822960" y="1554480"/>
            <a:ext cx="10515600" cy="4754880"/>
          </a:xfrm>
          <a:prstGeom prst="rect">
            <a:avLst/>
          </a:prstGeom>
          <a:noFill/>
          <a:ln/>
        </p:spPr>
        <p:txBody>
          <a:bodyPr wrap="square" lIns="0" tIns="0" rIns="0" bIns="0" rtlCol="0" anchor="t"/>
          <a:lstStyle/>
          <a:p>
            <a:pPr indent="0" marL="0">
              <a:spcAft>
                <a:spcPts val="2200"/>
              </a:spcAft>
              <a:buNone/>
            </a:pPr>
            <a:r>
              <a:rPr lang="en-US" sz="2400" b="1" dirty="0">
                <a:solidFill>
                  <a:schemeClr val="tx1"/>
                </a:solidFill>
              </a:rPr>
              <a:t>Students: </a:t>
            </a:r>
            <a:pPr indent="0" marL="0">
              <a:spcAft>
                <a:spcPts val="2200"/>
              </a:spcAft>
              <a:buNone/>
            </a:pPr>
            <a:r>
              <a:rPr lang="en-US" sz="2400" dirty="0">
                <a:solidFill>
                  <a:schemeClr val="tx1"/>
                </a:solidFill>
              </a:rPr>
              <a:t>find books quickly, get instant answers and a study plan from their syllabus.</a:t>
            </a:r>
            <a:endParaRPr lang="en-US" sz="2400" dirty="0"/>
          </a:p>
          <a:p>
            <a:pPr indent="0" marL="0">
              <a:spcAft>
                <a:spcPts val="2200"/>
              </a:spcAft>
              <a:buNone/>
            </a:pPr>
            <a:r>
              <a:rPr lang="en-US" sz="2400" b="1" dirty="0">
                <a:solidFill>
                  <a:schemeClr val="tx1"/>
                </a:solidFill>
              </a:rPr>
              <a:t>Librarians: </a:t>
            </a:r>
            <a:pPr indent="0" marL="0">
              <a:spcAft>
                <a:spcPts val="2200"/>
              </a:spcAft>
              <a:buNone/>
            </a:pPr>
            <a:r>
              <a:rPr lang="en-US" sz="2400" dirty="0">
                <a:solidFill>
                  <a:schemeClr val="tx1"/>
                </a:solidFill>
              </a:rPr>
              <a:t>less manual work, correct records, automatic fines and reports.</a:t>
            </a:r>
            <a:endParaRPr lang="en-US" sz="2400" dirty="0"/>
          </a:p>
          <a:p>
            <a:pPr indent="0" marL="0">
              <a:spcAft>
                <a:spcPts val="2200"/>
              </a:spcAft>
              <a:buNone/>
            </a:pPr>
            <a:r>
              <a:rPr lang="en-US" sz="2400" b="1" dirty="0">
                <a:solidFill>
                  <a:schemeClr val="tx1"/>
                </a:solidFill>
              </a:rPr>
              <a:t>Faculty: </a:t>
            </a:r>
            <a:pPr indent="0" marL="0">
              <a:spcAft>
                <a:spcPts val="2200"/>
              </a:spcAft>
              <a:buNone/>
            </a:pPr>
            <a:r>
              <a:rPr lang="en-US" sz="2400" dirty="0">
                <a:solidFill>
                  <a:schemeClr val="tx1"/>
                </a:solidFill>
              </a:rPr>
              <a:t>can link course content with books and research papers.</a:t>
            </a:r>
            <a:endParaRPr lang="en-US" sz="2400" dirty="0"/>
          </a:p>
          <a:p>
            <a:pPr indent="0" marL="0">
              <a:spcAft>
                <a:spcPts val="2200"/>
              </a:spcAft>
              <a:buNone/>
            </a:pPr>
            <a:r>
              <a:rPr lang="en-US" sz="2400" b="1" dirty="0">
                <a:solidFill>
                  <a:schemeClr val="tx1"/>
                </a:solidFill>
              </a:rPr>
              <a:t>Institutions: </a:t>
            </a:r>
            <a:pPr indent="0" marL="0">
              <a:spcAft>
                <a:spcPts val="2200"/>
              </a:spcAft>
              <a:buNone/>
            </a:pPr>
            <a:r>
              <a:rPr lang="en-US" sz="2400" dirty="0">
                <a:solidFill>
                  <a:schemeClr val="tx1"/>
                </a:solidFill>
              </a:rPr>
              <a:t>lower cost and better use of library resources.</a:t>
            </a:r>
            <a:endParaRPr lang="en-US" sz="2400" dirty="0"/>
          </a:p>
        </p:txBody>
      </p:sp>
      <p:sp>
        <p:nvSpPr>
          <p:cNvPr id="4" name="Text 2"/>
          <p:cNvSpPr txBox="1"/>
          <p:nvPr/>
        </p:nvSpPr>
        <p:spPr>
          <a:xfrm>
            <a:off x="822960" y="5394960"/>
            <a:ext cx="10515600" cy="548640"/>
          </a:xfrm>
          <a:prstGeom prst="rect">
            <a:avLst/>
          </a:prstGeom>
          <a:noFill/>
          <a:ln/>
        </p:spPr>
        <p:txBody>
          <a:bodyPr wrap="square" lIns="0" tIns="0" rIns="0" bIns="0" rtlCol="0" anchor="ctr"/>
          <a:lstStyle/>
          <a:p>
            <a:pPr indent="0" marL="0">
              <a:buNone/>
            </a:pPr>
            <a:r>
              <a:rPr lang="en-US" sz="1800" i="1" dirty="0">
                <a:solidFill>
                  <a:schemeClr val="tx1"/>
                </a:solidFill>
              </a:rPr>
              <a:t>Supports SDG 4 (Quality Education) and SDG 9 (Industry, Innovation and Infrastructure).</a:t>
            </a:r>
            <a:endParaRPr lang="en-US" sz="18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Dissemination and Accessibility</a:t>
            </a:r>
            <a:endParaRPr lang="en-US" sz="3400" dirty="0"/>
          </a:p>
        </p:txBody>
      </p:sp>
      <p:sp>
        <p:nvSpPr>
          <p:cNvPr id="3" name="Bullets"/>
          <p:cNvSpPr txBox="1"/>
          <p:nvPr/>
        </p:nvSpPr>
        <p:spPr>
          <a:xfrm>
            <a:off x="822960" y="1463040"/>
            <a:ext cx="10515600" cy="4754880"/>
          </a:xfrm>
          <a:prstGeom prst="rect">
            <a:avLst/>
          </a:prstGeom>
          <a:noFill/>
          <a:ln/>
        </p:spPr>
        <p:txBody>
          <a:bodyPr wrap="square" lIns="0" tIns="0" rIns="0" bIns="0" rtlCol="0" anchor="t"/>
          <a:lstStyle/>
          <a:p>
            <a:pPr marL="342900" indent="-342900">
              <a:spcAft>
                <a:spcPts val="1800"/>
              </a:spcAft>
              <a:buSzPct val="100000"/>
              <a:buChar char="•"/>
            </a:pPr>
            <a:r>
              <a:rPr lang="en-US" sz="2300" dirty="0">
                <a:solidFill>
                  <a:schemeClr val="tx1"/>
                </a:solidFill>
              </a:rPr>
              <a:t>Source code is on GitHub (SOA-2420030614 repository).</a:t>
            </a:r>
            <a:endParaRPr lang="en-US" sz="2300" dirty="0"/>
          </a:p>
          <a:p>
            <a:pPr marL="342900" indent="-342900">
              <a:spcAft>
                <a:spcPts val="1800"/>
              </a:spcAft>
              <a:buSzPct val="100000"/>
              <a:buChar char="•"/>
            </a:pPr>
            <a:r>
              <a:rPr lang="en-US" sz="2300" dirty="0">
                <a:solidFill>
                  <a:schemeClr val="tx1"/>
                </a:solidFill>
              </a:rPr>
              <a:t>Web app works on mobile and desktop browsers, nothing to install.</a:t>
            </a:r>
            <a:endParaRPr lang="en-US" sz="2300" dirty="0"/>
          </a:p>
          <a:p>
            <a:pPr marL="342900" indent="-342900">
              <a:spcAft>
                <a:spcPts val="1800"/>
              </a:spcAft>
              <a:buSzPct val="100000"/>
              <a:buChar char="•"/>
            </a:pPr>
            <a:r>
              <a:rPr lang="en-US" sz="2300" dirty="0">
                <a:solidFill>
                  <a:schemeClr val="tx1"/>
                </a:solidFill>
              </a:rPr>
              <a:t>Separate login for students and admin.</a:t>
            </a:r>
            <a:endParaRPr lang="en-US" sz="2300" dirty="0"/>
          </a:p>
          <a:p>
            <a:pPr marL="342900" indent="-342900">
              <a:spcAft>
                <a:spcPts val="1800"/>
              </a:spcAft>
              <a:buSzPct val="100000"/>
              <a:buChar char="•"/>
            </a:pPr>
            <a:r>
              <a:rPr lang="en-US" sz="2300" dirty="0">
                <a:solidFill>
                  <a:schemeClr val="tx1"/>
                </a:solidFill>
              </a:rPr>
              <a:t>AI translation helps users read in their own language.</a:t>
            </a:r>
            <a:endParaRPr lang="en-US" sz="2300" dirty="0"/>
          </a:p>
          <a:p>
            <a:pPr marL="342900" indent="-342900">
              <a:spcAft>
                <a:spcPts val="1800"/>
              </a:spcAft>
              <a:buSzPct val="100000"/>
              <a:buChar char="•"/>
            </a:pPr>
            <a:r>
              <a:rPr lang="en-US" sz="2300" dirty="0">
                <a:solidFill>
                  <a:schemeClr val="tx1"/>
                </a:solidFill>
              </a:rPr>
              <a:t>Easy to run: npm scripts start the frontend, Java backend and Python AI service.</a:t>
            </a:r>
            <a:endParaRPr lang="en-US" sz="2300" dirty="0"/>
          </a:p>
          <a:p>
            <a:pPr marL="342900" indent="-342900">
              <a:spcAft>
                <a:spcPts val="1800"/>
              </a:spcAft>
              <a:buSzPct val="100000"/>
              <a:buChar char="•"/>
            </a:pPr>
            <a:r>
              <a:rPr lang="en-US" sz="2300" dirty="0">
                <a:solidFill>
                  <a:schemeClr val="tx1"/>
                </a:solidFill>
              </a:rPr>
              <a:t>Project abstract and review presentations are prepared for sharing.</a:t>
            </a:r>
            <a:endParaRPr lang="en-US" sz="2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Conclusion and Future Work</a:t>
            </a:r>
            <a:endParaRPr lang="en-US" sz="3400" dirty="0"/>
          </a:p>
        </p:txBody>
      </p:sp>
      <p:sp>
        <p:nvSpPr>
          <p:cNvPr id="3" name="Text 1"/>
          <p:cNvSpPr txBox="1"/>
          <p:nvPr/>
        </p:nvSpPr>
        <p:spPr>
          <a:xfrm>
            <a:off x="822960" y="1371600"/>
            <a:ext cx="5029200" cy="411480"/>
          </a:xfrm>
          <a:prstGeom prst="rect">
            <a:avLst/>
          </a:prstGeom>
          <a:noFill/>
          <a:ln/>
        </p:spPr>
        <p:txBody>
          <a:bodyPr wrap="square" lIns="0" tIns="0" rIns="0" bIns="0" rtlCol="0" anchor="ctr"/>
          <a:lstStyle/>
          <a:p>
            <a:pPr indent="0" marL="0">
              <a:buNone/>
            </a:pPr>
            <a:r>
              <a:rPr lang="en-US" sz="2200" b="1" dirty="0">
                <a:solidFill>
                  <a:schemeClr val="accent3"/>
                </a:solidFill>
              </a:rPr>
              <a:t>Conclusion</a:t>
            </a:r>
            <a:endParaRPr lang="en-US" sz="2200" dirty="0"/>
          </a:p>
        </p:txBody>
      </p:sp>
      <p:sp>
        <p:nvSpPr>
          <p:cNvPr id="4" name="Bullets"/>
          <p:cNvSpPr txBox="1"/>
          <p:nvPr/>
        </p:nvSpPr>
        <p:spPr>
          <a:xfrm>
            <a:off x="822960" y="1874520"/>
            <a:ext cx="5029200" cy="4114800"/>
          </a:xfrm>
          <a:prstGeom prst="rect">
            <a:avLst/>
          </a:prstGeom>
          <a:noFill/>
          <a:ln/>
        </p:spPr>
        <p:txBody>
          <a:bodyPr wrap="square" lIns="0" tIns="0" rIns="0" bIns="0" rtlCol="0" anchor="t"/>
          <a:lstStyle/>
          <a:p>
            <a:pPr marL="342900" indent="-342900">
              <a:spcAft>
                <a:spcPts val="1200"/>
              </a:spcAft>
              <a:buSzPct val="100000"/>
              <a:buChar char="•"/>
            </a:pPr>
            <a:r>
              <a:rPr lang="en-US" sz="1900" dirty="0">
                <a:solidFill>
                  <a:schemeClr val="tx1"/>
                </a:solidFill>
              </a:rPr>
              <a:t>A working AI based smart library system was built using SOA.</a:t>
            </a:r>
            <a:endParaRPr lang="en-US" sz="1900" dirty="0"/>
          </a:p>
          <a:p>
            <a:pPr marL="342900" indent="-342900">
              <a:spcAft>
                <a:spcPts val="1200"/>
              </a:spcAft>
              <a:buSzPct val="100000"/>
              <a:buChar char="•"/>
            </a:pPr>
            <a:r>
              <a:rPr lang="en-US" sz="1900" dirty="0">
                <a:solidFill>
                  <a:schemeClr val="tx1"/>
                </a:solidFill>
              </a:rPr>
              <a:t>All the objectives of Review-1 are completed.</a:t>
            </a:r>
            <a:endParaRPr lang="en-US" sz="1900" dirty="0"/>
          </a:p>
          <a:p>
            <a:pPr marL="342900" indent="-342900">
              <a:spcAft>
                <a:spcPts val="1200"/>
              </a:spcAft>
              <a:buSzPct val="100000"/>
              <a:buChar char="•"/>
            </a:pPr>
            <a:r>
              <a:rPr lang="en-US" sz="1900" dirty="0">
                <a:solidFill>
                  <a:schemeClr val="tx1"/>
                </a:solidFill>
              </a:rPr>
              <a:t>Chatbot, syllabus matcher and reader copilot help students directly.</a:t>
            </a:r>
            <a:endParaRPr lang="en-US" sz="1900" dirty="0"/>
          </a:p>
          <a:p>
            <a:pPr marL="342900" indent="-342900">
              <a:spcAft>
                <a:spcPts val="1200"/>
              </a:spcAft>
              <a:buSzPct val="100000"/>
              <a:buChar char="•"/>
            </a:pPr>
            <a:r>
              <a:rPr lang="en-US" sz="1900" dirty="0">
                <a:solidFill>
                  <a:schemeClr val="tx1"/>
                </a:solidFill>
              </a:rPr>
              <a:t>System still works when the AI is not available.</a:t>
            </a:r>
            <a:endParaRPr lang="en-US" sz="1900" dirty="0"/>
          </a:p>
        </p:txBody>
      </p:sp>
      <p:sp>
        <p:nvSpPr>
          <p:cNvPr id="5" name="Text 3"/>
          <p:cNvSpPr txBox="1"/>
          <p:nvPr/>
        </p:nvSpPr>
        <p:spPr>
          <a:xfrm>
            <a:off x="6309360" y="1371600"/>
            <a:ext cx="5029200" cy="411480"/>
          </a:xfrm>
          <a:prstGeom prst="rect">
            <a:avLst/>
          </a:prstGeom>
          <a:noFill/>
          <a:ln/>
        </p:spPr>
        <p:txBody>
          <a:bodyPr wrap="square" lIns="0" tIns="0" rIns="0" bIns="0" rtlCol="0" anchor="ctr"/>
          <a:lstStyle/>
          <a:p>
            <a:pPr indent="0" marL="0">
              <a:buNone/>
            </a:pPr>
            <a:r>
              <a:rPr lang="en-US" sz="2200" b="1" dirty="0">
                <a:solidFill>
                  <a:schemeClr val="accent3"/>
                </a:solidFill>
              </a:rPr>
              <a:t>Future Work</a:t>
            </a:r>
            <a:endParaRPr lang="en-US" sz="2200" dirty="0"/>
          </a:p>
        </p:txBody>
      </p:sp>
      <p:sp>
        <p:nvSpPr>
          <p:cNvPr id="6" name="Bullets"/>
          <p:cNvSpPr txBox="1"/>
          <p:nvPr/>
        </p:nvSpPr>
        <p:spPr>
          <a:xfrm>
            <a:off x="6309360" y="1874520"/>
            <a:ext cx="5120640" cy="4114800"/>
          </a:xfrm>
          <a:prstGeom prst="rect">
            <a:avLst/>
          </a:prstGeom>
          <a:noFill/>
          <a:ln/>
        </p:spPr>
        <p:txBody>
          <a:bodyPr wrap="square" lIns="0" tIns="0" rIns="0" bIns="0" rtlCol="0" anchor="t"/>
          <a:lstStyle/>
          <a:p>
            <a:pPr marL="342900" indent="-342900">
              <a:spcAft>
                <a:spcPts val="1200"/>
              </a:spcAft>
              <a:buSzPct val="100000"/>
              <a:buChar char="•"/>
            </a:pPr>
            <a:r>
              <a:rPr lang="en-US" sz="1900" dirty="0">
                <a:solidFill>
                  <a:schemeClr val="tx1"/>
                </a:solidFill>
              </a:rPr>
              <a:t>Voice based library assistant</a:t>
            </a:r>
            <a:endParaRPr lang="en-US" sz="1900" dirty="0"/>
          </a:p>
          <a:p>
            <a:pPr marL="342900" indent="-342900">
              <a:spcAft>
                <a:spcPts val="1200"/>
              </a:spcAft>
              <a:buSzPct val="100000"/>
              <a:buChar char="•"/>
            </a:pPr>
            <a:r>
              <a:rPr lang="en-US" sz="1900" dirty="0">
                <a:solidFill>
                  <a:schemeClr val="tx1"/>
                </a:solidFill>
              </a:rPr>
              <a:t>Separate mobile application</a:t>
            </a:r>
            <a:endParaRPr lang="en-US" sz="1900" dirty="0"/>
          </a:p>
          <a:p>
            <a:pPr marL="342900" indent="-342900">
              <a:spcAft>
                <a:spcPts val="1200"/>
              </a:spcAft>
              <a:buSzPct val="100000"/>
              <a:buChar char="•"/>
            </a:pPr>
            <a:r>
              <a:rPr lang="en-US" sz="1900" dirty="0">
                <a:solidFill>
                  <a:schemeClr val="tx1"/>
                </a:solidFill>
              </a:rPr>
              <a:t>Cloud deployment</a:t>
            </a:r>
            <a:endParaRPr lang="en-US" sz="1900" dirty="0"/>
          </a:p>
          <a:p>
            <a:pPr marL="342900" indent="-342900">
              <a:spcAft>
                <a:spcPts val="1200"/>
              </a:spcAft>
              <a:buSzPct val="100000"/>
              <a:buChar char="•"/>
            </a:pPr>
            <a:r>
              <a:rPr lang="en-US" sz="1900" dirty="0">
                <a:solidFill>
                  <a:schemeClr val="tx1"/>
                </a:solidFill>
              </a:rPr>
              <a:t>Recommendations from borrowing history</a:t>
            </a:r>
            <a:endParaRPr lang="en-US" sz="19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3" type="title" hasCustomPrompt="1"/>
          </p:nvPr>
        </p:nvSpPr>
        <p:spPr>
          <a:xfrm>
            <a:off x="914400" y="274320"/>
            <a:ext cx="9509760" cy="777240"/>
          </a:xfrm>
          <a:prstGeom prst="rect">
            <a:avLst/>
          </a:prstGeom>
          <a:noFill/>
          <a:ln/>
        </p:spPr>
        <p:txBody>
          <a:bodyPr wrap="square" lIns="0" tIns="0" rIns="0" bIns="0" rtlCol="0" anchor="ctr"/>
          <a:lstStyle/>
          <a:p>
            <a:pPr algn="ctr" indent="0" marL="0">
              <a:buNone/>
            </a:pPr>
            <a:r>
              <a:rPr lang="en-US" sz="3400" b="1" dirty="0">
                <a:solidFill>
                  <a:schemeClr val="accent1"/>
                </a:solidFill>
              </a:rPr>
              <a:t>References</a:t>
            </a:r>
            <a:endParaRPr lang="en-US" sz="3400" dirty="0"/>
          </a:p>
        </p:txBody>
      </p:sp>
      <p:sp>
        <p:nvSpPr>
          <p:cNvPr id="3" name="Bullets"/>
          <p:cNvSpPr txBox="1"/>
          <p:nvPr/>
        </p:nvSpPr>
        <p:spPr>
          <a:xfrm>
            <a:off x="822960" y="1463040"/>
            <a:ext cx="10515600" cy="475488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800" dirty="0">
                <a:solidFill>
                  <a:schemeClr val="tx1"/>
                </a:solidFill>
              </a:rPr>
              <a:t>M. Musto, G. Semeraro, P. Lops, "Semantics-Aware Recommender Systems for Digital Libraries," 2016.</a:t>
            </a:r>
            <a:endParaRPr lang="en-US" sz="1800" dirty="0"/>
          </a:p>
          <a:p>
            <a:pPr marL="342900" indent="-342900">
              <a:spcAft>
                <a:spcPts val="1000"/>
              </a:spcAft>
              <a:buSzPct val="100000"/>
              <a:buFont typeface="+mj-lt"/>
              <a:buAutoNum type="arabicPeriod" startAt="1"/>
            </a:pPr>
            <a:r>
              <a:rPr lang="en-US" sz="1800" dirty="0">
                <a:solidFill>
                  <a:schemeClr val="tx1"/>
                </a:solidFill>
              </a:rPr>
              <a:t>J. Tejeda-Lorente et al., "A Recommendation System for Digital Libraries Based on User Profiles and Semantic Filtering," 2014.</a:t>
            </a:r>
            <a:endParaRPr lang="en-US" sz="1800" dirty="0"/>
          </a:p>
          <a:p>
            <a:pPr marL="342900" indent="-342900">
              <a:spcAft>
                <a:spcPts val="1000"/>
              </a:spcAft>
              <a:buSzPct val="100000"/>
              <a:buFont typeface="+mj-lt"/>
              <a:buAutoNum type="arabicPeriod" startAt="1"/>
            </a:pPr>
            <a:r>
              <a:rPr lang="en-US" sz="1800" dirty="0">
                <a:solidFill>
                  <a:schemeClr val="tx1"/>
                </a:solidFill>
              </a:rPr>
              <a:t>A. S. Ghareb, A. A. Bakar, A. R. Hamdan, "Hybrid Recommendation System for Library Services," 2019.</a:t>
            </a:r>
            <a:endParaRPr lang="en-US" sz="1800" dirty="0"/>
          </a:p>
          <a:p>
            <a:pPr marL="342900" indent="-342900">
              <a:spcAft>
                <a:spcPts val="1000"/>
              </a:spcAft>
              <a:buSzPct val="100000"/>
              <a:buFont typeface="+mj-lt"/>
              <a:buAutoNum type="arabicPeriod" startAt="1"/>
            </a:pPr>
            <a:r>
              <a:rPr lang="en-US" sz="1800" dirty="0">
                <a:solidFill>
                  <a:schemeClr val="tx1"/>
                </a:solidFill>
              </a:rPr>
              <a:t>Spring Boot documentation, spring.io/projects/spring-boot</a:t>
            </a:r>
            <a:endParaRPr lang="en-US" sz="1800" dirty="0"/>
          </a:p>
          <a:p>
            <a:pPr marL="342900" indent="-342900">
              <a:spcAft>
                <a:spcPts val="1000"/>
              </a:spcAft>
              <a:buSzPct val="100000"/>
              <a:buFont typeface="+mj-lt"/>
              <a:buAutoNum type="arabicPeriod" startAt="1"/>
            </a:pPr>
            <a:r>
              <a:rPr lang="en-US" sz="1800" dirty="0">
                <a:solidFill>
                  <a:schemeClr val="tx1"/>
                </a:solidFill>
              </a:rPr>
              <a:t>Flask documentation, flask.palletsprojects.com</a:t>
            </a:r>
            <a:endParaRPr lang="en-US" sz="1800" dirty="0"/>
          </a:p>
          <a:p>
            <a:pPr marL="342900" indent="-342900">
              <a:spcAft>
                <a:spcPts val="1000"/>
              </a:spcAft>
              <a:buSzPct val="100000"/>
              <a:buFont typeface="+mj-lt"/>
              <a:buAutoNum type="arabicPeriod" startAt="1"/>
            </a:pPr>
            <a:r>
              <a:rPr lang="en-US" sz="1800" dirty="0">
                <a:solidFill>
                  <a:schemeClr val="tx1"/>
                </a:solidFill>
              </a:rPr>
              <a:t>Google Gemini API documentation, ai.google.dev/gemini-api/docs</a:t>
            </a:r>
            <a:endParaRPr lang="en-US" sz="1800" dirty="0"/>
          </a:p>
          <a:p>
            <a:pPr marL="342900" indent="-342900">
              <a:spcAft>
                <a:spcPts val="1000"/>
              </a:spcAft>
              <a:buSzPct val="100000"/>
              <a:buFont typeface="+mj-lt"/>
              <a:buAutoNum type="arabicPeriod" startAt="1"/>
            </a:pPr>
            <a:r>
              <a:rPr lang="en-US" sz="1800" dirty="0">
                <a:solidFill>
                  <a:schemeClr val="tx1"/>
                </a:solidFill>
              </a:rPr>
              <a:t>React documentation, react.dev</a:t>
            </a:r>
            <a:endParaRPr lang="en-US" sz="18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274320"/>
            <a:ext cx="9235440" cy="777240"/>
          </a:xfrm>
          <a:prstGeom prst="roundRect">
            <a:avLst>
              <a:gd name="adj" fmla="val 11765"/>
            </a:avLst>
          </a:prstGeom>
          <a:solidFill>
            <a:schemeClr val="accent1"/>
          </a:solidFill>
          <a:ln w="19050">
            <a:solidFill>
              <a:schemeClr val="tx2"/>
            </a:solidFill>
            <a:prstDash val="solid"/>
          </a:ln>
        </p:spPr>
      </p:sp>
      <p:sp>
        <p:nvSpPr>
          <p:cNvPr id="3" name="Text 1"/>
          <p:cNvSpPr txBox="1"/>
          <p:nvPr/>
        </p:nvSpPr>
        <p:spPr>
          <a:xfrm>
            <a:off x="548640" y="274320"/>
            <a:ext cx="9235440" cy="777240"/>
          </a:xfrm>
          <a:prstGeom prst="rect">
            <a:avLst/>
          </a:prstGeom>
          <a:noFill/>
          <a:ln/>
        </p:spPr>
        <p:txBody>
          <a:bodyPr wrap="square" lIns="0" tIns="0" rIns="0" bIns="0" rtlCol="0" anchor="ctr"/>
          <a:lstStyle/>
          <a:p>
            <a:pPr algn="ctr" indent="0" marL="0">
              <a:buNone/>
            </a:pPr>
            <a:r>
              <a:rPr lang="en-US" sz="2800" b="1" dirty="0">
                <a:solidFill>
                  <a:schemeClr val="bg1"/>
                </a:solidFill>
              </a:rPr>
              <a:t>AI Smart Library Assistant &amp; Management System</a:t>
            </a:r>
            <a:endParaRPr lang="en-US" sz="2800" dirty="0"/>
          </a:p>
        </p:txBody>
      </p:sp>
      <p:sp>
        <p:nvSpPr>
          <p:cNvPr id="4" name="Text 2"/>
          <p:cNvSpPr txBox="1"/>
          <p:nvPr/>
        </p:nvSpPr>
        <p:spPr>
          <a:xfrm>
            <a:off x="1371600" y="2377440"/>
            <a:ext cx="9418320" cy="1097280"/>
          </a:xfrm>
          <a:prstGeom prst="rect">
            <a:avLst/>
          </a:prstGeom>
          <a:noFill/>
          <a:ln/>
        </p:spPr>
        <p:txBody>
          <a:bodyPr wrap="square" lIns="0" tIns="0" rIns="0" bIns="0" rtlCol="0" anchor="ctr"/>
          <a:lstStyle/>
          <a:p>
            <a:pPr algn="ctr" indent="0" marL="0">
              <a:buNone/>
            </a:pPr>
            <a:r>
              <a:rPr lang="en-US" sz="5600" b="1" dirty="0">
                <a:solidFill>
                  <a:schemeClr val="accent1"/>
                </a:solidFill>
                <a:latin typeface="+mj-lt" pitchFamily="34" charset="0"/>
                <a:ea typeface="+mj-lt" pitchFamily="34" charset="-122"/>
                <a:cs typeface="+mj-lt" pitchFamily="34" charset="-120"/>
              </a:rPr>
              <a:t>Thank You</a:t>
            </a:r>
            <a:endParaRPr lang="en-US" sz="5600" dirty="0"/>
          </a:p>
        </p:txBody>
      </p:sp>
      <p:sp>
        <p:nvSpPr>
          <p:cNvPr id="5" name="Text 3"/>
          <p:cNvSpPr txBox="1"/>
          <p:nvPr/>
        </p:nvSpPr>
        <p:spPr>
          <a:xfrm>
            <a:off x="1371600" y="3566160"/>
            <a:ext cx="9418320" cy="548640"/>
          </a:xfrm>
          <a:prstGeom prst="rect">
            <a:avLst/>
          </a:prstGeom>
          <a:noFill/>
          <a:ln/>
        </p:spPr>
        <p:txBody>
          <a:bodyPr wrap="square" lIns="0" tIns="0" rIns="0" bIns="0" rtlCol="0" anchor="ctr"/>
          <a:lstStyle/>
          <a:p>
            <a:pPr algn="ctr" indent="0" marL="0">
              <a:buNone/>
            </a:pPr>
            <a:r>
              <a:rPr lang="en-US" sz="2600" dirty="0">
                <a:solidFill>
                  <a:schemeClr val="tx1"/>
                </a:solidFill>
                <a:latin typeface="+mj-lt" pitchFamily="34" charset="0"/>
                <a:ea typeface="+mj-lt" pitchFamily="34" charset="-122"/>
                <a:cs typeface="+mj-lt" pitchFamily="34" charset="-120"/>
              </a:rPr>
              <a:t>Any Questions?</a:t>
            </a:r>
            <a:endParaRPr lang="en-US" sz="2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1" lang="en-US"/>
              <a:t>20</a:t>
            </a:fld>
            <a:endParaRPr lang="en-US"/>
          </a:p>
        </p:txBody>
      </p:sp>
    </p:spTree>
  </p:cSld>
  <p:clrMapOvr>
    <a:masterClrMapping/>
  </p:clrMapOvr>
</p:sld>
</file>

<file path=ppt/theme/theme1.xml><?xml version="1.0" encoding="utf-8"?>
<a:theme xmlns:a="http://schemas.openxmlformats.org/drawingml/2006/main" name="KLH SOA Review">
  <a:themeElements>
    <a:clrScheme name="KLH SOA Review">
      <a:dk1>
        <a:srgbClr val="1A1A1A"/>
      </a:dk1>
      <a:lt1>
        <a:srgbClr val="FFFFFF"/>
      </a:lt1>
      <a:dk2>
        <a:srgbClr val="1F3864"/>
      </a:dk2>
      <a:lt2>
        <a:srgbClr val="EAF1F8"/>
      </a:lt2>
      <a:accent1>
        <a:srgbClr val="0070C0"/>
      </a:accent1>
      <a:accent2>
        <a:srgbClr val="156082"/>
      </a:accent2>
      <a:accent3>
        <a:srgbClr val="C00000"/>
      </a:accent3>
      <a:accent4>
        <a:srgbClr val="FFC000"/>
      </a:accent4>
      <a:accent5>
        <a:srgbClr val="3A3A3A"/>
      </a:accent5>
      <a:accent6>
        <a:srgbClr val="4472C4"/>
      </a:accent6>
      <a:hlink>
        <a:srgbClr val="0070C0"/>
      </a:hlink>
      <a:folHlink>
        <a:srgbClr val="7F7F7F"/>
      </a:folHlink>
    </a:clrScheme>
    <a:fontScheme name="KLH SOA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Smart Library Assistant &amp; Management System - SOA Project Review-4</dc:title>
  <dc:subject>PptxGenJS Presentation</dc:subject>
  <dc:creator>PptxGenJS</dc:creator>
  <cp:lastModifiedBy>PptxGenJS</cp:lastModifiedBy>
  <cp:revision>1</cp:revision>
  <dcterms:created xsi:type="dcterms:W3CDTF">2026-10-26T05:21:43Z</dcterms:created>
  <dcterms:modified xsi:type="dcterms:W3CDTF">2026-10-26T05:21:43Z</dcterms:modified>
</cp:coreProperties>
</file>